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Corben"/>
      <p:regular r:id="rId17"/>
    </p:embeddedFont>
    <p:embeddedFont>
      <p:font typeface="Corben"/>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872978"/>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Amazon S3: Simple Storage Service</a:t>
            </a:r>
            <a:endParaRPr lang="en-US" sz="4450" dirty="0"/>
          </a:p>
        </p:txBody>
      </p:sp>
      <p:sp>
        <p:nvSpPr>
          <p:cNvPr id="4" name="Text 1"/>
          <p:cNvSpPr/>
          <p:nvPr/>
        </p:nvSpPr>
        <p:spPr>
          <a:xfrm>
            <a:off x="6280190" y="463069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 complete guide to mastering cloud object storage for IT professionals and cloud beginners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4390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What is Amazon S3?</a:t>
            </a:r>
            <a:endParaRPr lang="en-US" sz="4450" dirty="0"/>
          </a:p>
        </p:txBody>
      </p:sp>
      <p:pic>
        <p:nvPicPr>
          <p:cNvPr id="3" name="Image 0" descr="preencoded.png">    </p:cNvPr>
          <p:cNvPicPr>
            <a:picLocks noChangeAspect="1"/>
          </p:cNvPicPr>
          <p:nvPr/>
        </p:nvPicPr>
        <p:blipFill>
          <a:blip r:embed="rId1"/>
          <a:stretch>
            <a:fillRect/>
          </a:stretch>
        </p:blipFill>
        <p:spPr>
          <a:xfrm>
            <a:off x="793790" y="2292072"/>
            <a:ext cx="8284131" cy="4694277"/>
          </a:xfrm>
          <a:prstGeom prst="rect">
            <a:avLst/>
          </a:prstGeom>
        </p:spPr>
      </p:pic>
      <p:sp>
        <p:nvSpPr>
          <p:cNvPr id="4" name="Text 1"/>
          <p:cNvSpPr/>
          <p:nvPr/>
        </p:nvSpPr>
        <p:spPr>
          <a:xfrm>
            <a:off x="9638943" y="1996916"/>
            <a:ext cx="4205168" cy="326612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Amazon Simple Storage Service (S3) is AWS's flagship object storage solution, providing virtually unlimited, highly durable storage accessible from anywhere on the internet. Think of it as a massive, secure vault in the cloud where you can store any type of data—from photos and videos to application backups and big data analytics files.</a:t>
            </a:r>
            <a:endParaRPr lang="en-US" sz="1750" dirty="0"/>
          </a:p>
        </p:txBody>
      </p:sp>
      <p:sp>
        <p:nvSpPr>
          <p:cNvPr id="5" name="Text 2"/>
          <p:cNvSpPr/>
          <p:nvPr/>
        </p:nvSpPr>
        <p:spPr>
          <a:xfrm>
            <a:off x="9638943" y="5467112"/>
            <a:ext cx="4205168"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S3 delivers 99.999999999% (11 nines) durability, meaning your data is incredibly safe. It's designed to scale automatically, so you never worry about running out of space.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328148"/>
            <a:ext cx="9795629"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Why S3 Matters in Cloud Computing</a:t>
            </a:r>
            <a:endParaRPr lang="en-US" sz="4450" dirty="0"/>
          </a:p>
        </p:txBody>
      </p:sp>
      <p:sp>
        <p:nvSpPr>
          <p:cNvPr id="3" name="Shape 1"/>
          <p:cNvSpPr/>
          <p:nvPr/>
        </p:nvSpPr>
        <p:spPr>
          <a:xfrm>
            <a:off x="793790" y="3490555"/>
            <a:ext cx="4196358" cy="2410897"/>
          </a:xfrm>
          <a:prstGeom prst="roundRect">
            <a:avLst>
              <a:gd name="adj" fmla="val 3952"/>
            </a:avLst>
          </a:prstGeom>
          <a:solidFill>
            <a:srgbClr val="D2D9F9"/>
          </a:solidFill>
          <a:ln w="7620">
            <a:solidFill>
              <a:srgbClr val="B8BFDF"/>
            </a:solidFill>
            <a:prstDash val="solid"/>
          </a:ln>
        </p:spPr>
      </p:sp>
      <p:sp>
        <p:nvSpPr>
          <p:cNvPr id="4" name="Text 2"/>
          <p:cNvSpPr/>
          <p:nvPr/>
        </p:nvSpPr>
        <p:spPr>
          <a:xfrm>
            <a:off x="1028224" y="37249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Infinite Scalability</a:t>
            </a:r>
            <a:endParaRPr lang="en-US" sz="2200" dirty="0"/>
          </a:p>
        </p:txBody>
      </p:sp>
      <p:sp>
        <p:nvSpPr>
          <p:cNvPr id="5" name="Text 3"/>
          <p:cNvSpPr/>
          <p:nvPr/>
        </p:nvSpPr>
        <p:spPr>
          <a:xfrm>
            <a:off x="1028224" y="4215408"/>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Store from gigabytes to petabytes without infrastructure planning. S3 automatically scales to meet your needs.</a:t>
            </a:r>
            <a:endParaRPr lang="en-US" sz="1750" dirty="0"/>
          </a:p>
        </p:txBody>
      </p:sp>
      <p:sp>
        <p:nvSpPr>
          <p:cNvPr id="6" name="Shape 4"/>
          <p:cNvSpPr/>
          <p:nvPr/>
        </p:nvSpPr>
        <p:spPr>
          <a:xfrm>
            <a:off x="5216962" y="3490555"/>
            <a:ext cx="4196358" cy="2410897"/>
          </a:xfrm>
          <a:prstGeom prst="roundRect">
            <a:avLst>
              <a:gd name="adj" fmla="val 3952"/>
            </a:avLst>
          </a:prstGeom>
          <a:solidFill>
            <a:srgbClr val="D2D9F9"/>
          </a:solidFill>
          <a:ln w="7620">
            <a:solidFill>
              <a:srgbClr val="B8BFDF"/>
            </a:solidFill>
            <a:prstDash val="solid"/>
          </a:ln>
        </p:spPr>
      </p:sp>
      <p:sp>
        <p:nvSpPr>
          <p:cNvPr id="7" name="Text 5"/>
          <p:cNvSpPr/>
          <p:nvPr/>
        </p:nvSpPr>
        <p:spPr>
          <a:xfrm>
            <a:off x="5451396" y="37249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Industry Standard</a:t>
            </a:r>
            <a:endParaRPr lang="en-US" sz="2200" dirty="0"/>
          </a:p>
        </p:txBody>
      </p:sp>
      <p:sp>
        <p:nvSpPr>
          <p:cNvPr id="8" name="Text 6"/>
          <p:cNvSpPr/>
          <p:nvPr/>
        </p:nvSpPr>
        <p:spPr>
          <a:xfrm>
            <a:off x="5451396" y="4215408"/>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S3 is the foundation for countless cloud applications and services, making it essential knowledge for any cloud professional.</a:t>
            </a:r>
            <a:endParaRPr lang="en-US" sz="1750" dirty="0"/>
          </a:p>
        </p:txBody>
      </p:sp>
      <p:sp>
        <p:nvSpPr>
          <p:cNvPr id="9" name="Shape 7"/>
          <p:cNvSpPr/>
          <p:nvPr/>
        </p:nvSpPr>
        <p:spPr>
          <a:xfrm>
            <a:off x="9640133" y="3490555"/>
            <a:ext cx="4196358" cy="2410897"/>
          </a:xfrm>
          <a:prstGeom prst="roundRect">
            <a:avLst>
              <a:gd name="adj" fmla="val 3952"/>
            </a:avLst>
          </a:prstGeom>
          <a:solidFill>
            <a:srgbClr val="D2D9F9"/>
          </a:solidFill>
          <a:ln w="7620">
            <a:solidFill>
              <a:srgbClr val="B8BFDF"/>
            </a:solidFill>
            <a:prstDash val="solid"/>
          </a:ln>
        </p:spPr>
      </p:sp>
      <p:sp>
        <p:nvSpPr>
          <p:cNvPr id="10" name="Text 8"/>
          <p:cNvSpPr/>
          <p:nvPr/>
        </p:nvSpPr>
        <p:spPr>
          <a:xfrm>
            <a:off x="9874568" y="372498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Cost Effective</a:t>
            </a:r>
            <a:endParaRPr lang="en-US" sz="2200" dirty="0"/>
          </a:p>
        </p:txBody>
      </p:sp>
      <p:sp>
        <p:nvSpPr>
          <p:cNvPr id="11" name="Text 9"/>
          <p:cNvSpPr/>
          <p:nvPr/>
        </p:nvSpPr>
        <p:spPr>
          <a:xfrm>
            <a:off x="9874568" y="4215408"/>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Pay only for what you use with no upfront costs. Multiple storage classes optimize costs for different access patterns.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15904"/>
            <a:ext cx="6719054"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Real-World S3 Use Cases</a:t>
            </a:r>
            <a:endParaRPr lang="en-US" sz="4450" dirty="0"/>
          </a:p>
        </p:txBody>
      </p:sp>
      <p:pic>
        <p:nvPicPr>
          <p:cNvPr id="3" name="Image 0" descr="preencoded.png">    </p:cNvPr>
          <p:cNvPicPr>
            <a:picLocks noChangeAspect="1"/>
          </p:cNvPicPr>
          <p:nvPr/>
        </p:nvPicPr>
        <p:blipFill>
          <a:blip r:embed="rId1"/>
          <a:stretch>
            <a:fillRect/>
          </a:stretch>
        </p:blipFill>
        <p:spPr>
          <a:xfrm>
            <a:off x="793790" y="2678311"/>
            <a:ext cx="1767840" cy="1092518"/>
          </a:xfrm>
          <a:prstGeom prst="rect">
            <a:avLst/>
          </a:prstGeom>
        </p:spPr>
      </p:pic>
      <p:sp>
        <p:nvSpPr>
          <p:cNvPr id="4" name="Text 1"/>
          <p:cNvSpPr/>
          <p:nvPr/>
        </p:nvSpPr>
        <p:spPr>
          <a:xfrm>
            <a:off x="793790" y="4054316"/>
            <a:ext cx="3048000"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Backup &amp; Disaster Recovery</a:t>
            </a:r>
            <a:endParaRPr lang="en-US" sz="2200" dirty="0"/>
          </a:p>
        </p:txBody>
      </p:sp>
      <p:sp>
        <p:nvSpPr>
          <p:cNvPr id="5" name="Text 2"/>
          <p:cNvSpPr/>
          <p:nvPr/>
        </p:nvSpPr>
        <p:spPr>
          <a:xfrm>
            <a:off x="793790" y="4899065"/>
            <a:ext cx="3048000"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Organizations store critical backups in S3, ensuring business continuity. Versioning protects against accidental deletions.</a:t>
            </a:r>
            <a:endParaRPr lang="en-US" sz="1750" dirty="0"/>
          </a:p>
        </p:txBody>
      </p:sp>
      <p:pic>
        <p:nvPicPr>
          <p:cNvPr id="6" name="Image 1" descr="preencoded.png">    </p:cNvPr>
          <p:cNvPicPr>
            <a:picLocks noChangeAspect="1"/>
          </p:cNvPicPr>
          <p:nvPr/>
        </p:nvPicPr>
        <p:blipFill>
          <a:blip r:embed="rId2"/>
          <a:stretch>
            <a:fillRect/>
          </a:stretch>
        </p:blipFill>
        <p:spPr>
          <a:xfrm>
            <a:off x="4125278" y="2678311"/>
            <a:ext cx="1767840" cy="1092518"/>
          </a:xfrm>
          <a:prstGeom prst="rect">
            <a:avLst/>
          </a:prstGeom>
        </p:spPr>
      </p:pic>
      <p:sp>
        <p:nvSpPr>
          <p:cNvPr id="7" name="Text 3"/>
          <p:cNvSpPr/>
          <p:nvPr/>
        </p:nvSpPr>
        <p:spPr>
          <a:xfrm>
            <a:off x="4125278" y="4054316"/>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Static Website Hosting</a:t>
            </a:r>
            <a:endParaRPr lang="en-US" sz="2200" dirty="0"/>
          </a:p>
        </p:txBody>
      </p:sp>
      <p:sp>
        <p:nvSpPr>
          <p:cNvPr id="8" name="Text 4"/>
          <p:cNvSpPr/>
          <p:nvPr/>
        </p:nvSpPr>
        <p:spPr>
          <a:xfrm>
            <a:off x="4125278" y="4899065"/>
            <a:ext cx="3048119"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Host entire websites directly from S3 buckets. Perfect for portfolios, documentation sites, and landing pages.</a:t>
            </a:r>
            <a:endParaRPr lang="en-US" sz="1750" dirty="0"/>
          </a:p>
        </p:txBody>
      </p:sp>
      <p:pic>
        <p:nvPicPr>
          <p:cNvPr id="9" name="Image 2" descr="preencoded.png">    </p:cNvPr>
          <p:cNvPicPr>
            <a:picLocks noChangeAspect="1"/>
          </p:cNvPicPr>
          <p:nvPr/>
        </p:nvPicPr>
        <p:blipFill>
          <a:blip r:embed="rId3"/>
          <a:stretch>
            <a:fillRect/>
          </a:stretch>
        </p:blipFill>
        <p:spPr>
          <a:xfrm>
            <a:off x="7456884" y="2678311"/>
            <a:ext cx="1767840" cy="1092518"/>
          </a:xfrm>
          <a:prstGeom prst="rect">
            <a:avLst/>
          </a:prstGeom>
        </p:spPr>
      </p:pic>
      <p:sp>
        <p:nvSpPr>
          <p:cNvPr id="10" name="Text 5"/>
          <p:cNvSpPr/>
          <p:nvPr/>
        </p:nvSpPr>
        <p:spPr>
          <a:xfrm>
            <a:off x="7456884" y="4054316"/>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Data Lakes &amp; Analytics</a:t>
            </a:r>
            <a:endParaRPr lang="en-US" sz="2200" dirty="0"/>
          </a:p>
        </p:txBody>
      </p:sp>
      <p:sp>
        <p:nvSpPr>
          <p:cNvPr id="11" name="Text 6"/>
          <p:cNvSpPr/>
          <p:nvPr/>
        </p:nvSpPr>
        <p:spPr>
          <a:xfrm>
            <a:off x="7456884" y="4899065"/>
            <a:ext cx="3048119"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Store massive datasets for analysis with services like Amazon Athena, enabling SQL queries on data without servers.</a:t>
            </a:r>
            <a:endParaRPr lang="en-US" sz="1750" dirty="0"/>
          </a:p>
        </p:txBody>
      </p:sp>
      <p:pic>
        <p:nvPicPr>
          <p:cNvPr id="12" name="Image 3" descr="preencoded.png">    </p:cNvPr>
          <p:cNvPicPr>
            <a:picLocks noChangeAspect="1"/>
          </p:cNvPicPr>
          <p:nvPr/>
        </p:nvPicPr>
        <p:blipFill>
          <a:blip r:embed="rId4"/>
          <a:stretch>
            <a:fillRect/>
          </a:stretch>
        </p:blipFill>
        <p:spPr>
          <a:xfrm>
            <a:off x="10788491" y="2678311"/>
            <a:ext cx="1767840" cy="1092518"/>
          </a:xfrm>
          <a:prstGeom prst="rect">
            <a:avLst/>
          </a:prstGeom>
        </p:spPr>
      </p:pic>
      <p:sp>
        <p:nvSpPr>
          <p:cNvPr id="13" name="Text 7"/>
          <p:cNvSpPr/>
          <p:nvPr/>
        </p:nvSpPr>
        <p:spPr>
          <a:xfrm>
            <a:off x="10788491" y="4054316"/>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404155"/>
                </a:solidFill>
                <a:latin typeface="Corben" pitchFamily="34" charset="0"/>
                <a:ea typeface="Corben" pitchFamily="34" charset="-122"/>
                <a:cs typeface="Corben" pitchFamily="34" charset="-120"/>
              </a:rPr>
              <a:t>Media Storage &amp; Delivery</a:t>
            </a:r>
            <a:endParaRPr lang="en-US" sz="2200" dirty="0"/>
          </a:p>
        </p:txBody>
      </p:sp>
      <p:sp>
        <p:nvSpPr>
          <p:cNvPr id="14" name="Text 8"/>
          <p:cNvSpPr/>
          <p:nvPr/>
        </p:nvSpPr>
        <p:spPr>
          <a:xfrm>
            <a:off x="10788491" y="4899065"/>
            <a:ext cx="3048119"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Netflix and Spotify use S3-like storage for streaming content to millions of users globally with low latency.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34389" y="1465421"/>
            <a:ext cx="5239583" cy="414933"/>
          </a:xfrm>
          <a:prstGeom prst="rect">
            <a:avLst/>
          </a:prstGeom>
          <a:noFill/>
          <a:ln/>
        </p:spPr>
        <p:txBody>
          <a:bodyPr wrap="none" lIns="0" tIns="0" rIns="0" bIns="0" rtlCol="0" anchor="t"/>
          <a:lstStyle/>
          <a:p>
            <a:pPr algn="l" indent="0" marL="0">
              <a:lnSpc>
                <a:spcPts val="3250"/>
              </a:lnSpc>
              <a:buNone/>
            </a:pPr>
            <a:r>
              <a:rPr lang="en-US" sz="2600" dirty="0">
                <a:solidFill>
                  <a:srgbClr val="1B1B27"/>
                </a:solidFill>
                <a:latin typeface="Corben" pitchFamily="34" charset="0"/>
                <a:ea typeface="Corben" pitchFamily="34" charset="-122"/>
                <a:cs typeface="Corben" pitchFamily="34" charset="-120"/>
              </a:rPr>
              <a:t>Core S3 Concepts You Must Know</a:t>
            </a:r>
            <a:endParaRPr lang="en-US" sz="2600" dirty="0"/>
          </a:p>
        </p:txBody>
      </p:sp>
      <p:pic>
        <p:nvPicPr>
          <p:cNvPr id="3" name="Image 0" descr="preencoded.png">    </p:cNvPr>
          <p:cNvPicPr>
            <a:picLocks noChangeAspect="1"/>
          </p:cNvPicPr>
          <p:nvPr/>
        </p:nvPicPr>
        <p:blipFill>
          <a:blip r:embed="rId1"/>
          <a:stretch>
            <a:fillRect/>
          </a:stretch>
        </p:blipFill>
        <p:spPr>
          <a:xfrm>
            <a:off x="2734389" y="2840474"/>
            <a:ext cx="5841682" cy="2673429"/>
          </a:xfrm>
          <a:prstGeom prst="rect">
            <a:avLst/>
          </a:prstGeom>
        </p:spPr>
      </p:pic>
      <p:sp>
        <p:nvSpPr>
          <p:cNvPr id="4" name="Text 1"/>
          <p:cNvSpPr/>
          <p:nvPr/>
        </p:nvSpPr>
        <p:spPr>
          <a:xfrm>
            <a:off x="7013451" y="3206147"/>
            <a:ext cx="1292246" cy="161531"/>
          </a:xfrm>
          <a:prstGeom prst="rect">
            <a:avLst/>
          </a:prstGeom>
          <a:noFill/>
          <a:ln/>
        </p:spPr>
        <p:txBody>
          <a:bodyPr wrap="none" lIns="0" tIns="0" rIns="0" bIns="0" rtlCol="0" anchor="t"/>
          <a:lstStyle/>
          <a:p>
            <a:pPr algn="l" indent="0" marL="0">
              <a:lnSpc>
                <a:spcPts val="1250"/>
              </a:lnSpc>
              <a:buNone/>
            </a:pPr>
            <a:r>
              <a:rPr lang="en-US" sz="1000" dirty="0">
                <a:solidFill>
                  <a:srgbClr val="404155"/>
                </a:solidFill>
                <a:latin typeface="Corben" pitchFamily="34" charset="0"/>
                <a:ea typeface="Corben" pitchFamily="34" charset="-122"/>
                <a:cs typeface="Corben" pitchFamily="34" charset="-120"/>
              </a:rPr>
              <a:t>Object</a:t>
            </a:r>
            <a:endParaRPr lang="en-US" sz="1000" dirty="0"/>
          </a:p>
        </p:txBody>
      </p:sp>
      <p:sp>
        <p:nvSpPr>
          <p:cNvPr id="5" name="Text 2"/>
          <p:cNvSpPr/>
          <p:nvPr/>
        </p:nvSpPr>
        <p:spPr>
          <a:xfrm>
            <a:off x="7013451" y="3413624"/>
            <a:ext cx="1424342" cy="204785"/>
          </a:xfrm>
          <a:prstGeom prst="rect">
            <a:avLst/>
          </a:prstGeom>
          <a:noFill/>
          <a:ln/>
        </p:spPr>
        <p:txBody>
          <a:bodyPr wrap="square" lIns="0" tIns="0" rIns="0" bIns="0" rtlCol="0" anchor="t"/>
          <a:lstStyle/>
          <a:p>
            <a:pPr algn="l" indent="0" marL="0">
              <a:lnSpc>
                <a:spcPts val="800"/>
              </a:lnSpc>
              <a:buNone/>
            </a:pPr>
            <a:r>
              <a:rPr lang="en-US" sz="800" dirty="0">
                <a:solidFill>
                  <a:srgbClr val="404155"/>
                </a:solidFill>
                <a:latin typeface="Nobile" pitchFamily="34" charset="0"/>
                <a:ea typeface="Nobile" pitchFamily="34" charset="-122"/>
                <a:cs typeface="Nobile" pitchFamily="34" charset="-120"/>
              </a:rPr>
              <a:t>Stored item with a unique key identifier</a:t>
            </a:r>
            <a:endParaRPr lang="en-US" sz="800" dirty="0"/>
          </a:p>
        </p:txBody>
      </p:sp>
      <p:sp>
        <p:nvSpPr>
          <p:cNvPr id="6" name="Text 3"/>
          <p:cNvSpPr/>
          <p:nvPr/>
        </p:nvSpPr>
        <p:spPr>
          <a:xfrm>
            <a:off x="2889752" y="4084874"/>
            <a:ext cx="1292246" cy="161531"/>
          </a:xfrm>
          <a:prstGeom prst="rect">
            <a:avLst/>
          </a:prstGeom>
          <a:noFill/>
          <a:ln/>
        </p:spPr>
        <p:txBody>
          <a:bodyPr wrap="none" lIns="0" tIns="0" rIns="0" bIns="0" rtlCol="0" anchor="t"/>
          <a:lstStyle/>
          <a:p>
            <a:pPr algn="r" indent="0" marL="0">
              <a:lnSpc>
                <a:spcPts val="1250"/>
              </a:lnSpc>
              <a:buNone/>
            </a:pPr>
            <a:r>
              <a:rPr lang="en-US" sz="1000" dirty="0">
                <a:solidFill>
                  <a:srgbClr val="404155"/>
                </a:solidFill>
                <a:latin typeface="Corben" pitchFamily="34" charset="0"/>
                <a:ea typeface="Corben" pitchFamily="34" charset="-122"/>
                <a:cs typeface="Corben" pitchFamily="34" charset="-120"/>
              </a:rPr>
              <a:t>Bucket</a:t>
            </a:r>
            <a:endParaRPr lang="en-US" sz="1000" dirty="0"/>
          </a:p>
        </p:txBody>
      </p:sp>
      <p:sp>
        <p:nvSpPr>
          <p:cNvPr id="7" name="Text 4"/>
          <p:cNvSpPr/>
          <p:nvPr/>
        </p:nvSpPr>
        <p:spPr>
          <a:xfrm>
            <a:off x="2872522" y="4292351"/>
            <a:ext cx="1309476" cy="204785"/>
          </a:xfrm>
          <a:prstGeom prst="rect">
            <a:avLst/>
          </a:prstGeom>
          <a:noFill/>
          <a:ln/>
        </p:spPr>
        <p:txBody>
          <a:bodyPr wrap="square" lIns="0" tIns="0" rIns="0" bIns="0" rtlCol="0" anchor="t"/>
          <a:lstStyle/>
          <a:p>
            <a:pPr algn="r" indent="0" marL="0">
              <a:lnSpc>
                <a:spcPts val="800"/>
              </a:lnSpc>
              <a:buNone/>
            </a:pPr>
            <a:r>
              <a:rPr lang="en-US" sz="800" dirty="0">
                <a:solidFill>
                  <a:srgbClr val="404155"/>
                </a:solidFill>
                <a:latin typeface="Nobile" pitchFamily="34" charset="0"/>
                <a:ea typeface="Nobile" pitchFamily="34" charset="-122"/>
                <a:cs typeface="Nobile" pitchFamily="34" charset="-120"/>
              </a:rPr>
              <a:t>Top-level container with unique global name</a:t>
            </a:r>
            <a:endParaRPr lang="en-US" sz="800" dirty="0"/>
          </a:p>
        </p:txBody>
      </p:sp>
      <p:sp>
        <p:nvSpPr>
          <p:cNvPr id="8" name="Text 5"/>
          <p:cNvSpPr/>
          <p:nvPr/>
        </p:nvSpPr>
        <p:spPr>
          <a:xfrm>
            <a:off x="7013451" y="4538596"/>
            <a:ext cx="1292246" cy="161531"/>
          </a:xfrm>
          <a:prstGeom prst="rect">
            <a:avLst/>
          </a:prstGeom>
          <a:noFill/>
          <a:ln/>
        </p:spPr>
        <p:txBody>
          <a:bodyPr wrap="none" lIns="0" tIns="0" rIns="0" bIns="0" rtlCol="0" anchor="t"/>
          <a:lstStyle/>
          <a:p>
            <a:pPr algn="l" indent="0" marL="0">
              <a:lnSpc>
                <a:spcPts val="1250"/>
              </a:lnSpc>
              <a:buNone/>
            </a:pPr>
            <a:r>
              <a:rPr lang="en-US" sz="1000" dirty="0">
                <a:solidFill>
                  <a:srgbClr val="404155"/>
                </a:solidFill>
                <a:latin typeface="Corben" pitchFamily="34" charset="0"/>
                <a:ea typeface="Corben" pitchFamily="34" charset="-122"/>
                <a:cs typeface="Corben" pitchFamily="34" charset="-120"/>
              </a:rPr>
              <a:t>AWS Account</a:t>
            </a:r>
            <a:endParaRPr lang="en-US" sz="1000" dirty="0"/>
          </a:p>
        </p:txBody>
      </p:sp>
      <p:sp>
        <p:nvSpPr>
          <p:cNvPr id="9" name="Text 6"/>
          <p:cNvSpPr/>
          <p:nvPr/>
        </p:nvSpPr>
        <p:spPr>
          <a:xfrm>
            <a:off x="7013451" y="4746073"/>
            <a:ext cx="1424342" cy="204785"/>
          </a:xfrm>
          <a:prstGeom prst="rect">
            <a:avLst/>
          </a:prstGeom>
          <a:noFill/>
          <a:ln/>
        </p:spPr>
        <p:txBody>
          <a:bodyPr wrap="square" lIns="0" tIns="0" rIns="0" bIns="0" rtlCol="0" anchor="t"/>
          <a:lstStyle/>
          <a:p>
            <a:pPr algn="l" indent="0" marL="0">
              <a:lnSpc>
                <a:spcPts val="800"/>
              </a:lnSpc>
              <a:buNone/>
            </a:pPr>
            <a:r>
              <a:rPr lang="en-US" sz="800" dirty="0">
                <a:solidFill>
                  <a:srgbClr val="404155"/>
                </a:solidFill>
                <a:latin typeface="Nobile" pitchFamily="34" charset="0"/>
                <a:ea typeface="Nobile" pitchFamily="34" charset="-122"/>
                <a:cs typeface="Nobile" pitchFamily="34" charset="-120"/>
              </a:rPr>
              <a:t>Holds buckets and defines access boundaries</a:t>
            </a:r>
            <a:endParaRPr lang="en-US" sz="800" dirty="0"/>
          </a:p>
        </p:txBody>
      </p:sp>
      <p:sp>
        <p:nvSpPr>
          <p:cNvPr id="10" name="Text 7"/>
          <p:cNvSpPr/>
          <p:nvPr/>
        </p:nvSpPr>
        <p:spPr>
          <a:xfrm>
            <a:off x="2734389" y="5601295"/>
            <a:ext cx="5841682" cy="336709"/>
          </a:xfrm>
          <a:prstGeom prst="rect">
            <a:avLst/>
          </a:prstGeom>
          <a:noFill/>
          <a:ln/>
        </p:spPr>
        <p:txBody>
          <a:bodyPr wrap="square" lIns="0" tIns="0" rIns="0" bIns="0" rtlCol="0" anchor="t"/>
          <a:lstStyle/>
          <a:p>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Understanding the fundamental building blocks of S3 is crucial for effective use and troubleshooting.</a:t>
            </a:r>
            <a:endParaRPr lang="en-US" sz="1000" dirty="0"/>
          </a:p>
        </p:txBody>
      </p:sp>
      <p:sp>
        <p:nvSpPr>
          <p:cNvPr id="11" name="Shape 8"/>
          <p:cNvSpPr/>
          <p:nvPr/>
        </p:nvSpPr>
        <p:spPr>
          <a:xfrm>
            <a:off x="8907542" y="2084308"/>
            <a:ext cx="2995970" cy="1086088"/>
          </a:xfrm>
          <a:prstGeom prst="roundRect">
            <a:avLst>
              <a:gd name="adj" fmla="val 6735"/>
            </a:avLst>
          </a:prstGeom>
          <a:solidFill>
            <a:srgbClr val="F9F9FF">
              <a:alpha val="95000"/>
            </a:srgbClr>
          </a:solidFill>
          <a:ln w="15240">
            <a:solidFill>
              <a:srgbClr val="B8BFDF"/>
            </a:solidFill>
            <a:prstDash val="solid"/>
          </a:ln>
        </p:spPr>
      </p:sp>
      <p:sp>
        <p:nvSpPr>
          <p:cNvPr id="12" name="Shape 9"/>
          <p:cNvSpPr/>
          <p:nvPr/>
        </p:nvSpPr>
        <p:spPr>
          <a:xfrm>
            <a:off x="8892302" y="2084308"/>
            <a:ext cx="60960" cy="1086088"/>
          </a:xfrm>
          <a:prstGeom prst="roundRect">
            <a:avLst>
              <a:gd name="adj" fmla="val 91481"/>
            </a:avLst>
          </a:prstGeom>
          <a:solidFill>
            <a:srgbClr val="4967E9"/>
          </a:solidFill>
          <a:ln/>
        </p:spPr>
      </p:sp>
      <p:sp>
        <p:nvSpPr>
          <p:cNvPr id="13" name="Text 10"/>
          <p:cNvSpPr/>
          <p:nvPr/>
        </p:nvSpPr>
        <p:spPr>
          <a:xfrm>
            <a:off x="9101257" y="2232303"/>
            <a:ext cx="1659612" cy="207407"/>
          </a:xfrm>
          <a:prstGeom prst="rect">
            <a:avLst/>
          </a:prstGeom>
          <a:noFill/>
          <a:ln/>
        </p:spPr>
        <p:txBody>
          <a:bodyPr wrap="none" lIns="0" tIns="0" rIns="0" bIns="0" rtlCol="0" anchor="t"/>
          <a:lstStyle/>
          <a:p>
            <a:pPr algn="l" indent="0" marL="0">
              <a:lnSpc>
                <a:spcPts val="1600"/>
              </a:lnSpc>
              <a:buNone/>
            </a:pPr>
            <a:r>
              <a:rPr lang="en-US" sz="1300" dirty="0">
                <a:solidFill>
                  <a:srgbClr val="404155"/>
                </a:solidFill>
                <a:latin typeface="Corben" pitchFamily="34" charset="0"/>
                <a:ea typeface="Corben" pitchFamily="34" charset="-122"/>
                <a:cs typeface="Corben" pitchFamily="34" charset="-120"/>
              </a:rPr>
              <a:t>Buckets</a:t>
            </a:r>
            <a:endParaRPr lang="en-US" sz="1300" dirty="0"/>
          </a:p>
        </p:txBody>
      </p:sp>
      <p:sp>
        <p:nvSpPr>
          <p:cNvPr id="14" name="Text 11"/>
          <p:cNvSpPr/>
          <p:nvPr/>
        </p:nvSpPr>
        <p:spPr>
          <a:xfrm>
            <a:off x="9101257" y="2517338"/>
            <a:ext cx="2654260" cy="505063"/>
          </a:xfrm>
          <a:prstGeom prst="rect">
            <a:avLst/>
          </a:prstGeom>
          <a:noFill/>
          <a:ln/>
        </p:spPr>
        <p:txBody>
          <a:bodyPr wrap="square" lIns="0" tIns="0" rIns="0" bIns="0" rtlCol="0" anchor="t"/>
          <a:lstStyle/>
          <a:p>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Top-level containers with globally unique names. Each bucket exists in a specific AWS region you choose.</a:t>
            </a:r>
            <a:endParaRPr lang="en-US" sz="1000" dirty="0"/>
          </a:p>
        </p:txBody>
      </p:sp>
      <p:sp>
        <p:nvSpPr>
          <p:cNvPr id="15" name="Shape 12"/>
          <p:cNvSpPr/>
          <p:nvPr/>
        </p:nvSpPr>
        <p:spPr>
          <a:xfrm>
            <a:off x="8907542" y="3248025"/>
            <a:ext cx="2995970" cy="1086088"/>
          </a:xfrm>
          <a:prstGeom prst="roundRect">
            <a:avLst>
              <a:gd name="adj" fmla="val 6735"/>
            </a:avLst>
          </a:prstGeom>
          <a:solidFill>
            <a:srgbClr val="F9F9FF">
              <a:alpha val="95000"/>
            </a:srgbClr>
          </a:solidFill>
          <a:ln w="15240">
            <a:solidFill>
              <a:srgbClr val="B8BFDF"/>
            </a:solidFill>
            <a:prstDash val="solid"/>
          </a:ln>
        </p:spPr>
      </p:sp>
      <p:sp>
        <p:nvSpPr>
          <p:cNvPr id="16" name="Shape 13"/>
          <p:cNvSpPr/>
          <p:nvPr/>
        </p:nvSpPr>
        <p:spPr>
          <a:xfrm>
            <a:off x="8892302" y="3248025"/>
            <a:ext cx="60960" cy="1086088"/>
          </a:xfrm>
          <a:prstGeom prst="roundRect">
            <a:avLst>
              <a:gd name="adj" fmla="val 91481"/>
            </a:avLst>
          </a:prstGeom>
          <a:solidFill>
            <a:srgbClr val="4967E9"/>
          </a:solidFill>
          <a:ln/>
        </p:spPr>
      </p:sp>
      <p:sp>
        <p:nvSpPr>
          <p:cNvPr id="17" name="Text 14"/>
          <p:cNvSpPr/>
          <p:nvPr/>
        </p:nvSpPr>
        <p:spPr>
          <a:xfrm>
            <a:off x="9101257" y="3396020"/>
            <a:ext cx="1659612" cy="207407"/>
          </a:xfrm>
          <a:prstGeom prst="rect">
            <a:avLst/>
          </a:prstGeom>
          <a:noFill/>
          <a:ln/>
        </p:spPr>
        <p:txBody>
          <a:bodyPr wrap="none" lIns="0" tIns="0" rIns="0" bIns="0" rtlCol="0" anchor="t"/>
          <a:lstStyle/>
          <a:p>
            <a:pPr algn="l" indent="0" marL="0">
              <a:lnSpc>
                <a:spcPts val="1600"/>
              </a:lnSpc>
              <a:buNone/>
            </a:pPr>
            <a:r>
              <a:rPr lang="en-US" sz="1300" dirty="0">
                <a:solidFill>
                  <a:srgbClr val="404155"/>
                </a:solidFill>
                <a:latin typeface="Corben" pitchFamily="34" charset="0"/>
                <a:ea typeface="Corben" pitchFamily="34" charset="-122"/>
                <a:cs typeface="Corben" pitchFamily="34" charset="-120"/>
              </a:rPr>
              <a:t>Objects</a:t>
            </a:r>
            <a:endParaRPr lang="en-US" sz="1300" dirty="0"/>
          </a:p>
        </p:txBody>
      </p:sp>
      <p:sp>
        <p:nvSpPr>
          <p:cNvPr id="18" name="Text 15"/>
          <p:cNvSpPr/>
          <p:nvPr/>
        </p:nvSpPr>
        <p:spPr>
          <a:xfrm>
            <a:off x="9101257" y="3681055"/>
            <a:ext cx="2654260" cy="505063"/>
          </a:xfrm>
          <a:prstGeom prst="rect">
            <a:avLst/>
          </a:prstGeom>
          <a:noFill/>
          <a:ln/>
        </p:spPr>
        <p:txBody>
          <a:bodyPr wrap="square" lIns="0" tIns="0" rIns="0" bIns="0" rtlCol="0" anchor="t"/>
          <a:lstStyle/>
          <a:p>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The actual files you store, ranging from 0 bytes to 5 TB. Each object includes data, metadata, and a unique identifier.</a:t>
            </a:r>
            <a:endParaRPr lang="en-US" sz="1000" dirty="0"/>
          </a:p>
        </p:txBody>
      </p:sp>
      <p:sp>
        <p:nvSpPr>
          <p:cNvPr id="19" name="Shape 16"/>
          <p:cNvSpPr/>
          <p:nvPr/>
        </p:nvSpPr>
        <p:spPr>
          <a:xfrm>
            <a:off x="8907542" y="4411742"/>
            <a:ext cx="2995970" cy="1101328"/>
          </a:xfrm>
          <a:prstGeom prst="roundRect">
            <a:avLst>
              <a:gd name="adj" fmla="val 6642"/>
            </a:avLst>
          </a:prstGeom>
          <a:solidFill>
            <a:srgbClr val="F9F9FF">
              <a:alpha val="95000"/>
            </a:srgbClr>
          </a:solidFill>
          <a:ln w="15240">
            <a:solidFill>
              <a:srgbClr val="B8BFDF"/>
            </a:solidFill>
            <a:prstDash val="solid"/>
          </a:ln>
        </p:spPr>
      </p:sp>
      <p:sp>
        <p:nvSpPr>
          <p:cNvPr id="20" name="Shape 17"/>
          <p:cNvSpPr/>
          <p:nvPr/>
        </p:nvSpPr>
        <p:spPr>
          <a:xfrm>
            <a:off x="8892302" y="4411742"/>
            <a:ext cx="60960" cy="1101328"/>
          </a:xfrm>
          <a:prstGeom prst="roundRect">
            <a:avLst>
              <a:gd name="adj" fmla="val 91481"/>
            </a:avLst>
          </a:prstGeom>
          <a:solidFill>
            <a:srgbClr val="4967E9"/>
          </a:solidFill>
          <a:ln/>
        </p:spPr>
      </p:sp>
      <p:sp>
        <p:nvSpPr>
          <p:cNvPr id="21" name="Text 18"/>
          <p:cNvSpPr/>
          <p:nvPr/>
        </p:nvSpPr>
        <p:spPr>
          <a:xfrm>
            <a:off x="9101257" y="4559737"/>
            <a:ext cx="1659612" cy="207407"/>
          </a:xfrm>
          <a:prstGeom prst="rect">
            <a:avLst/>
          </a:prstGeom>
          <a:noFill/>
          <a:ln/>
        </p:spPr>
        <p:txBody>
          <a:bodyPr wrap="none" lIns="0" tIns="0" rIns="0" bIns="0" rtlCol="0" anchor="t"/>
          <a:lstStyle/>
          <a:p>
            <a:pPr algn="l" indent="0" marL="0">
              <a:lnSpc>
                <a:spcPts val="1600"/>
              </a:lnSpc>
              <a:buNone/>
            </a:pPr>
            <a:r>
              <a:rPr lang="en-US" sz="1300" dirty="0">
                <a:solidFill>
                  <a:srgbClr val="404155"/>
                </a:solidFill>
                <a:latin typeface="Corben" pitchFamily="34" charset="0"/>
                <a:ea typeface="Corben" pitchFamily="34" charset="-122"/>
                <a:cs typeface="Corben" pitchFamily="34" charset="-120"/>
              </a:rPr>
              <a:t>Object Keys</a:t>
            </a:r>
            <a:endParaRPr lang="en-US" sz="1300" dirty="0"/>
          </a:p>
        </p:txBody>
      </p:sp>
      <p:sp>
        <p:nvSpPr>
          <p:cNvPr id="22" name="Text 19"/>
          <p:cNvSpPr/>
          <p:nvPr/>
        </p:nvSpPr>
        <p:spPr>
          <a:xfrm>
            <a:off x="9101257" y="4844772"/>
            <a:ext cx="2654260" cy="520303"/>
          </a:xfrm>
          <a:prstGeom prst="rect">
            <a:avLst/>
          </a:prstGeom>
          <a:noFill/>
          <a:ln/>
        </p:spPr>
        <p:txBody>
          <a:bodyPr wrap="square" lIns="0" tIns="0" rIns="0" bIns="0" rtlCol="0" anchor="t"/>
          <a:lstStyle/>
          <a:p>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The full path and filename (e.g., </a:t>
            </a:r>
            <a:pPr algn="l" indent="0" marL="0">
              <a:lnSpc>
                <a:spcPts val="1300"/>
              </a:lnSpc>
              <a:buNone/>
            </a:pPr>
            <a:r>
              <a:rPr lang="en-US" sz="1000" dirty="0">
                <a:solidFill>
                  <a:srgbClr val="404155"/>
                </a:solidFill>
                <a:highlight>
                  <a:srgbClr val="ECECF2"/>
                </a:highlight>
                <a:latin typeface="Consolas" pitchFamily="34" charset="0"/>
                <a:ea typeface="Consolas" pitchFamily="34" charset="-122"/>
                <a:cs typeface="Consolas" pitchFamily="34" charset="-120"/>
              </a:rPr>
              <a:t>docs/2024/report.pdf</a:t>
            </a:r>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 Keys can simulate folder structures using slashes.</a:t>
            </a:r>
            <a:endParaRPr lang="en-US" sz="1000" dirty="0"/>
          </a:p>
        </p:txBody>
      </p:sp>
      <p:sp>
        <p:nvSpPr>
          <p:cNvPr id="23" name="Shape 20"/>
          <p:cNvSpPr/>
          <p:nvPr/>
        </p:nvSpPr>
        <p:spPr>
          <a:xfrm>
            <a:off x="8907542" y="5590699"/>
            <a:ext cx="2995970" cy="1086088"/>
          </a:xfrm>
          <a:prstGeom prst="roundRect">
            <a:avLst>
              <a:gd name="adj" fmla="val 6735"/>
            </a:avLst>
          </a:prstGeom>
          <a:solidFill>
            <a:srgbClr val="F9F9FF">
              <a:alpha val="95000"/>
            </a:srgbClr>
          </a:solidFill>
          <a:ln w="15240">
            <a:solidFill>
              <a:srgbClr val="B8BFDF"/>
            </a:solidFill>
            <a:prstDash val="solid"/>
          </a:ln>
        </p:spPr>
      </p:sp>
      <p:sp>
        <p:nvSpPr>
          <p:cNvPr id="24" name="Shape 21"/>
          <p:cNvSpPr/>
          <p:nvPr/>
        </p:nvSpPr>
        <p:spPr>
          <a:xfrm>
            <a:off x="8892302" y="5590699"/>
            <a:ext cx="60960" cy="1086088"/>
          </a:xfrm>
          <a:prstGeom prst="roundRect">
            <a:avLst>
              <a:gd name="adj" fmla="val 91481"/>
            </a:avLst>
          </a:prstGeom>
          <a:solidFill>
            <a:srgbClr val="4967E9"/>
          </a:solidFill>
          <a:ln/>
        </p:spPr>
      </p:sp>
      <p:sp>
        <p:nvSpPr>
          <p:cNvPr id="25" name="Text 22"/>
          <p:cNvSpPr/>
          <p:nvPr/>
        </p:nvSpPr>
        <p:spPr>
          <a:xfrm>
            <a:off x="9101257" y="5738693"/>
            <a:ext cx="1659612" cy="207407"/>
          </a:xfrm>
          <a:prstGeom prst="rect">
            <a:avLst/>
          </a:prstGeom>
          <a:noFill/>
          <a:ln/>
        </p:spPr>
        <p:txBody>
          <a:bodyPr wrap="none" lIns="0" tIns="0" rIns="0" bIns="0" rtlCol="0" anchor="t"/>
          <a:lstStyle/>
          <a:p>
            <a:pPr algn="l" indent="0" marL="0">
              <a:lnSpc>
                <a:spcPts val="1600"/>
              </a:lnSpc>
              <a:buNone/>
            </a:pPr>
            <a:r>
              <a:rPr lang="en-US" sz="1300" dirty="0">
                <a:solidFill>
                  <a:srgbClr val="404155"/>
                </a:solidFill>
                <a:latin typeface="Corben" pitchFamily="34" charset="0"/>
                <a:ea typeface="Corben" pitchFamily="34" charset="-122"/>
                <a:cs typeface="Corben" pitchFamily="34" charset="-120"/>
              </a:rPr>
              <a:t>Regions</a:t>
            </a:r>
            <a:endParaRPr lang="en-US" sz="1300" dirty="0"/>
          </a:p>
        </p:txBody>
      </p:sp>
      <p:sp>
        <p:nvSpPr>
          <p:cNvPr id="26" name="Text 23"/>
          <p:cNvSpPr/>
          <p:nvPr/>
        </p:nvSpPr>
        <p:spPr>
          <a:xfrm>
            <a:off x="9101257" y="6023729"/>
            <a:ext cx="2654260" cy="505063"/>
          </a:xfrm>
          <a:prstGeom prst="rect">
            <a:avLst/>
          </a:prstGeom>
          <a:noFill/>
          <a:ln/>
        </p:spPr>
        <p:txBody>
          <a:bodyPr wrap="square" lIns="0" tIns="0" rIns="0" bIns="0" rtlCol="0" anchor="t"/>
          <a:lstStyle/>
          <a:p>
            <a:pPr algn="l" indent="0" marL="0">
              <a:lnSpc>
                <a:spcPts val="1300"/>
              </a:lnSpc>
              <a:buNone/>
            </a:pPr>
            <a:r>
              <a:rPr lang="en-US" sz="1000" dirty="0">
                <a:solidFill>
                  <a:srgbClr val="404155"/>
                </a:solidFill>
                <a:latin typeface="Nobile" pitchFamily="34" charset="0"/>
                <a:ea typeface="Nobile" pitchFamily="34" charset="-122"/>
                <a:cs typeface="Nobile" pitchFamily="34" charset="-120"/>
              </a:rPr>
              <a:t>Geographic locations where your bucket physically resides. Choose regions close to users for lower latency.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6174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S3 Architecture: How It Actually Works</a:t>
            </a:r>
            <a:endParaRPr lang="en-US" sz="4450" dirty="0"/>
          </a:p>
        </p:txBody>
      </p:sp>
      <p:sp>
        <p:nvSpPr>
          <p:cNvPr id="4" name="Text 1"/>
          <p:cNvSpPr/>
          <p:nvPr/>
        </p:nvSpPr>
        <p:spPr>
          <a:xfrm>
            <a:off x="793790" y="2419469"/>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S3 is built on a massively distributed architecture that automatically replicates your data across multiple facilities within a region. When you upload an object, S3 stores multiple copies across different physical devices in separate data centers. This redundancy is invisible to you but critical for achieving 11 nines of durability.</a:t>
            </a:r>
            <a:endParaRPr lang="en-US" sz="1750" dirty="0"/>
          </a:p>
        </p:txBody>
      </p:sp>
      <p:sp>
        <p:nvSpPr>
          <p:cNvPr id="5" name="Text 2"/>
          <p:cNvSpPr/>
          <p:nvPr/>
        </p:nvSpPr>
        <p:spPr>
          <a:xfrm>
            <a:off x="793790" y="4602480"/>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404155"/>
                </a:solidFill>
                <a:latin typeface="Corben" pitchFamily="34" charset="0"/>
                <a:ea typeface="Corben" pitchFamily="34" charset="-122"/>
                <a:cs typeface="Corben" pitchFamily="34" charset="-120"/>
              </a:rPr>
              <a:t>99.99%</a:t>
            </a:r>
            <a:endParaRPr lang="en-US" sz="5850" dirty="0"/>
          </a:p>
        </p:txBody>
      </p:sp>
      <p:sp>
        <p:nvSpPr>
          <p:cNvPr id="6" name="Text 3"/>
          <p:cNvSpPr/>
          <p:nvPr/>
        </p:nvSpPr>
        <p:spPr>
          <a:xfrm>
            <a:off x="793790" y="5634276"/>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404155"/>
                </a:solidFill>
                <a:latin typeface="Corben" pitchFamily="34" charset="0"/>
                <a:ea typeface="Corben" pitchFamily="34" charset="-122"/>
                <a:cs typeface="Corben" pitchFamily="34" charset="-120"/>
              </a:rPr>
              <a:t>Availability SLA</a:t>
            </a:r>
            <a:endParaRPr lang="en-US" sz="2200" dirty="0"/>
          </a:p>
        </p:txBody>
      </p:sp>
      <p:sp>
        <p:nvSpPr>
          <p:cNvPr id="7" name="Text 4"/>
          <p:cNvSpPr/>
          <p:nvPr/>
        </p:nvSpPr>
        <p:spPr>
          <a:xfrm>
            <a:off x="793790" y="6124694"/>
            <a:ext cx="2329815" cy="1088708"/>
          </a:xfrm>
          <a:prstGeom prst="rect">
            <a:avLst/>
          </a:prstGeom>
          <a:noFill/>
          <a:ln/>
        </p:spPr>
        <p:txBody>
          <a:bodyPr wrap="square" lIns="0" tIns="0" rIns="0" bIns="0" rtlCol="0" anchor="t"/>
          <a:lstStyle/>
          <a:p>
            <a:pPr algn="ctr" indent="0" marL="0">
              <a:lnSpc>
                <a:spcPts val="2850"/>
              </a:lnSpc>
              <a:buNone/>
            </a:pPr>
            <a:r>
              <a:rPr lang="en-US" sz="1750" dirty="0">
                <a:solidFill>
                  <a:srgbClr val="404155"/>
                </a:solidFill>
                <a:latin typeface="Nobile" pitchFamily="34" charset="0"/>
                <a:ea typeface="Nobile" pitchFamily="34" charset="-122"/>
                <a:cs typeface="Nobile" pitchFamily="34" charset="-120"/>
              </a:rPr>
              <a:t>Standard storage class uptime guarantee</a:t>
            </a:r>
            <a:endParaRPr lang="en-US" sz="1750" dirty="0"/>
          </a:p>
        </p:txBody>
      </p:sp>
      <p:sp>
        <p:nvSpPr>
          <p:cNvPr id="8" name="Text 5"/>
          <p:cNvSpPr/>
          <p:nvPr/>
        </p:nvSpPr>
        <p:spPr>
          <a:xfrm>
            <a:off x="3407093" y="4602480"/>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404155"/>
                </a:solidFill>
                <a:latin typeface="Corben" pitchFamily="34" charset="0"/>
                <a:ea typeface="Corben" pitchFamily="34" charset="-122"/>
                <a:cs typeface="Corben" pitchFamily="34" charset="-120"/>
              </a:rPr>
              <a:t>11</a:t>
            </a:r>
            <a:endParaRPr lang="en-US" sz="5850" dirty="0"/>
          </a:p>
        </p:txBody>
      </p:sp>
      <p:sp>
        <p:nvSpPr>
          <p:cNvPr id="9" name="Text 6"/>
          <p:cNvSpPr/>
          <p:nvPr/>
        </p:nvSpPr>
        <p:spPr>
          <a:xfrm>
            <a:off x="3407093" y="5634276"/>
            <a:ext cx="2329815" cy="708660"/>
          </a:xfrm>
          <a:prstGeom prst="rect">
            <a:avLst/>
          </a:prstGeom>
          <a:noFill/>
          <a:ln/>
        </p:spPr>
        <p:txBody>
          <a:bodyPr wrap="square" lIns="0" tIns="0" rIns="0" bIns="0" rtlCol="0" anchor="t"/>
          <a:lstStyle/>
          <a:p>
            <a:pPr algn="ctr" indent="0" marL="0">
              <a:lnSpc>
                <a:spcPts val="2750"/>
              </a:lnSpc>
              <a:buNone/>
            </a:pPr>
            <a:r>
              <a:rPr lang="en-US" sz="2200" dirty="0">
                <a:solidFill>
                  <a:srgbClr val="404155"/>
                </a:solidFill>
                <a:latin typeface="Corben" pitchFamily="34" charset="0"/>
                <a:ea typeface="Corben" pitchFamily="34" charset="-122"/>
                <a:cs typeface="Corben" pitchFamily="34" charset="-120"/>
              </a:rPr>
              <a:t>Nines of Durability</a:t>
            </a:r>
            <a:endParaRPr lang="en-US" sz="2200" dirty="0"/>
          </a:p>
        </p:txBody>
      </p:sp>
      <p:sp>
        <p:nvSpPr>
          <p:cNvPr id="10" name="Text 7"/>
          <p:cNvSpPr/>
          <p:nvPr/>
        </p:nvSpPr>
        <p:spPr>
          <a:xfrm>
            <a:off x="3407093" y="6479024"/>
            <a:ext cx="2329815" cy="725805"/>
          </a:xfrm>
          <a:prstGeom prst="rect">
            <a:avLst/>
          </a:prstGeom>
          <a:noFill/>
          <a:ln/>
        </p:spPr>
        <p:txBody>
          <a:bodyPr wrap="square" lIns="0" tIns="0" rIns="0" bIns="0" rtlCol="0" anchor="t"/>
          <a:lstStyle/>
          <a:p>
            <a:pPr algn="ctr" indent="0" marL="0">
              <a:lnSpc>
                <a:spcPts val="2850"/>
              </a:lnSpc>
              <a:buNone/>
            </a:pPr>
            <a:r>
              <a:rPr lang="en-US" sz="1750" dirty="0">
                <a:solidFill>
                  <a:srgbClr val="404155"/>
                </a:solidFill>
                <a:latin typeface="Nobile" pitchFamily="34" charset="0"/>
                <a:ea typeface="Nobile" pitchFamily="34" charset="-122"/>
                <a:cs typeface="Nobile" pitchFamily="34" charset="-120"/>
              </a:rPr>
              <a:t>99.999999999% data protection</a:t>
            </a:r>
            <a:endParaRPr lang="en-US" sz="1750" dirty="0"/>
          </a:p>
        </p:txBody>
      </p:sp>
      <p:sp>
        <p:nvSpPr>
          <p:cNvPr id="11" name="Text 8"/>
          <p:cNvSpPr/>
          <p:nvPr/>
        </p:nvSpPr>
        <p:spPr>
          <a:xfrm>
            <a:off x="6020395" y="4602480"/>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404155"/>
                </a:solidFill>
                <a:latin typeface="Corben" pitchFamily="34" charset="0"/>
                <a:ea typeface="Corben" pitchFamily="34" charset="-122"/>
                <a:cs typeface="Corben" pitchFamily="34" charset="-120"/>
              </a:rPr>
              <a:t>3+</a:t>
            </a:r>
            <a:endParaRPr lang="en-US" sz="5850" dirty="0"/>
          </a:p>
        </p:txBody>
      </p:sp>
      <p:sp>
        <p:nvSpPr>
          <p:cNvPr id="12" name="Text 9"/>
          <p:cNvSpPr/>
          <p:nvPr/>
        </p:nvSpPr>
        <p:spPr>
          <a:xfrm>
            <a:off x="6020395" y="5634276"/>
            <a:ext cx="2329815" cy="708660"/>
          </a:xfrm>
          <a:prstGeom prst="rect">
            <a:avLst/>
          </a:prstGeom>
          <a:noFill/>
          <a:ln/>
        </p:spPr>
        <p:txBody>
          <a:bodyPr wrap="square" lIns="0" tIns="0" rIns="0" bIns="0" rtlCol="0" anchor="t"/>
          <a:lstStyle/>
          <a:p>
            <a:pPr algn="ctr" indent="0" marL="0">
              <a:lnSpc>
                <a:spcPts val="2750"/>
              </a:lnSpc>
              <a:buNone/>
            </a:pPr>
            <a:r>
              <a:rPr lang="en-US" sz="2200" dirty="0">
                <a:solidFill>
                  <a:srgbClr val="404155"/>
                </a:solidFill>
                <a:latin typeface="Corben" pitchFamily="34" charset="0"/>
                <a:ea typeface="Corben" pitchFamily="34" charset="-122"/>
                <a:cs typeface="Corben" pitchFamily="34" charset="-120"/>
              </a:rPr>
              <a:t>Availability Zones</a:t>
            </a:r>
            <a:endParaRPr lang="en-US" sz="2200" dirty="0"/>
          </a:p>
        </p:txBody>
      </p:sp>
      <p:sp>
        <p:nvSpPr>
          <p:cNvPr id="13" name="Text 10"/>
          <p:cNvSpPr/>
          <p:nvPr/>
        </p:nvSpPr>
        <p:spPr>
          <a:xfrm>
            <a:off x="6020395" y="6479024"/>
            <a:ext cx="2329815" cy="1088708"/>
          </a:xfrm>
          <a:prstGeom prst="rect">
            <a:avLst/>
          </a:prstGeom>
          <a:noFill/>
          <a:ln/>
        </p:spPr>
        <p:txBody>
          <a:bodyPr wrap="square" lIns="0" tIns="0" rIns="0" bIns="0" rtlCol="0" anchor="t"/>
          <a:lstStyle/>
          <a:p>
            <a:pPr algn="ctr" indent="0" marL="0">
              <a:lnSpc>
                <a:spcPts val="2850"/>
              </a:lnSpc>
              <a:buNone/>
            </a:pPr>
            <a:r>
              <a:rPr lang="en-US" sz="1750" dirty="0">
                <a:solidFill>
                  <a:srgbClr val="404155"/>
                </a:solidFill>
                <a:latin typeface="Nobile" pitchFamily="34" charset="0"/>
                <a:ea typeface="Nobile" pitchFamily="34" charset="-122"/>
                <a:cs typeface="Nobile" pitchFamily="34" charset="-120"/>
              </a:rPr>
              <a:t>Data automatically replicated across facilities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3188" y="659606"/>
            <a:ext cx="6507837" cy="595313"/>
          </a:xfrm>
          <a:prstGeom prst="rect">
            <a:avLst/>
          </a:prstGeom>
          <a:noFill/>
          <a:ln/>
        </p:spPr>
        <p:txBody>
          <a:bodyPr wrap="none" lIns="0" tIns="0" rIns="0" bIns="0" rtlCol="0" anchor="t"/>
          <a:lstStyle/>
          <a:p>
            <a:pPr algn="l" indent="0" marL="0">
              <a:lnSpc>
                <a:spcPts val="4650"/>
              </a:lnSpc>
              <a:buNone/>
            </a:pPr>
            <a:r>
              <a:rPr lang="en-US" sz="3700" dirty="0">
                <a:solidFill>
                  <a:srgbClr val="1B1B27"/>
                </a:solidFill>
                <a:latin typeface="Corben" pitchFamily="34" charset="0"/>
                <a:ea typeface="Corben" pitchFamily="34" charset="-122"/>
                <a:cs typeface="Corben" pitchFamily="34" charset="-120"/>
              </a:rPr>
              <a:t>S3 Storage Classes Explained</a:t>
            </a:r>
            <a:endParaRPr lang="en-US" sz="3700" dirty="0"/>
          </a:p>
        </p:txBody>
      </p:sp>
      <p:sp>
        <p:nvSpPr>
          <p:cNvPr id="3" name="Text 1"/>
          <p:cNvSpPr/>
          <p:nvPr/>
        </p:nvSpPr>
        <p:spPr>
          <a:xfrm>
            <a:off x="743188" y="1574840"/>
            <a:ext cx="13144024" cy="280273"/>
          </a:xfrm>
          <a:prstGeom prst="rect">
            <a:avLst/>
          </a:prstGeom>
          <a:noFill/>
          <a:ln/>
        </p:spPr>
        <p:txBody>
          <a:bodyPr wrap="none" lIns="0" tIns="0" rIns="0" bIns="0" rtlCol="0" anchor="t"/>
          <a:lstStyle/>
          <a:p>
            <a:pPr algn="l" indent="0" marL="0">
              <a:lnSpc>
                <a:spcPts val="2200"/>
              </a:lnSpc>
              <a:buNone/>
            </a:pPr>
            <a:r>
              <a:rPr lang="en-US" sz="1450" dirty="0">
                <a:solidFill>
                  <a:srgbClr val="404155"/>
                </a:solidFill>
                <a:latin typeface="Nobile" pitchFamily="34" charset="0"/>
                <a:ea typeface="Nobile" pitchFamily="34" charset="-122"/>
                <a:cs typeface="Nobile" pitchFamily="34" charset="-120"/>
              </a:rPr>
              <a:t>Choose the right storage class based on access frequency and performance needs to optimize costs.</a:t>
            </a:r>
            <a:endParaRPr lang="en-US" sz="1450" dirty="0"/>
          </a:p>
        </p:txBody>
      </p:sp>
      <p:sp>
        <p:nvSpPr>
          <p:cNvPr id="4" name="Shape 2"/>
          <p:cNvSpPr/>
          <p:nvPr/>
        </p:nvSpPr>
        <p:spPr>
          <a:xfrm>
            <a:off x="7303770" y="2035016"/>
            <a:ext cx="22860" cy="5534978"/>
          </a:xfrm>
          <a:prstGeom prst="roundRect">
            <a:avLst>
              <a:gd name="adj" fmla="val 349987"/>
            </a:avLst>
          </a:prstGeom>
          <a:solidFill>
            <a:srgbClr val="B8BFDF"/>
          </a:solidFill>
          <a:ln/>
        </p:spPr>
      </p:sp>
      <p:sp>
        <p:nvSpPr>
          <p:cNvPr id="5" name="Shape 3"/>
          <p:cNvSpPr/>
          <p:nvPr/>
        </p:nvSpPr>
        <p:spPr>
          <a:xfrm>
            <a:off x="6552426" y="2237780"/>
            <a:ext cx="571381" cy="22860"/>
          </a:xfrm>
          <a:prstGeom prst="roundRect">
            <a:avLst>
              <a:gd name="adj" fmla="val 349987"/>
            </a:avLst>
          </a:prstGeom>
          <a:solidFill>
            <a:srgbClr val="B8BFDF"/>
          </a:solidFill>
          <a:ln/>
        </p:spPr>
      </p:sp>
      <p:sp>
        <p:nvSpPr>
          <p:cNvPr id="6" name="Shape 4"/>
          <p:cNvSpPr/>
          <p:nvPr/>
        </p:nvSpPr>
        <p:spPr>
          <a:xfrm>
            <a:off x="7100947" y="2035016"/>
            <a:ext cx="428506" cy="428506"/>
          </a:xfrm>
          <a:prstGeom prst="roundRect">
            <a:avLst>
              <a:gd name="adj" fmla="val 18671"/>
            </a:avLst>
          </a:prstGeom>
          <a:solidFill>
            <a:srgbClr val="D2D9F9"/>
          </a:solidFill>
          <a:ln w="7620">
            <a:solidFill>
              <a:srgbClr val="B8BFDF"/>
            </a:solidFill>
            <a:prstDash val="solid"/>
          </a:ln>
        </p:spPr>
      </p:sp>
      <p:sp>
        <p:nvSpPr>
          <p:cNvPr id="7" name="Text 5"/>
          <p:cNvSpPr/>
          <p:nvPr/>
        </p:nvSpPr>
        <p:spPr>
          <a:xfrm>
            <a:off x="7172325" y="2070675"/>
            <a:ext cx="285631" cy="357068"/>
          </a:xfrm>
          <a:prstGeom prst="rect">
            <a:avLst/>
          </a:prstGeom>
          <a:noFill/>
          <a:ln/>
        </p:spPr>
        <p:txBody>
          <a:bodyPr wrap="none" lIns="0" tIns="0" rIns="0" bIns="0" rtlCol="0" anchor="t"/>
          <a:lstStyle/>
          <a:p>
            <a:pPr algn="ctr" indent="0" marL="0">
              <a:lnSpc>
                <a:spcPts val="2200"/>
              </a:lnSpc>
              <a:buNone/>
            </a:pPr>
            <a:r>
              <a:rPr lang="en-US" sz="2200" dirty="0">
                <a:solidFill>
                  <a:srgbClr val="404155"/>
                </a:solidFill>
                <a:latin typeface="Corben" pitchFamily="34" charset="0"/>
                <a:ea typeface="Corben" pitchFamily="34" charset="-122"/>
                <a:cs typeface="Corben" pitchFamily="34" charset="-120"/>
              </a:rPr>
              <a:t>1</a:t>
            </a:r>
            <a:endParaRPr lang="en-US" sz="2200" dirty="0"/>
          </a:p>
        </p:txBody>
      </p:sp>
      <p:sp>
        <p:nvSpPr>
          <p:cNvPr id="8" name="Text 6"/>
          <p:cNvSpPr/>
          <p:nvPr/>
        </p:nvSpPr>
        <p:spPr>
          <a:xfrm>
            <a:off x="3981688" y="2100382"/>
            <a:ext cx="2381131" cy="297656"/>
          </a:xfrm>
          <a:prstGeom prst="rect">
            <a:avLst/>
          </a:prstGeom>
          <a:noFill/>
          <a:ln/>
        </p:spPr>
        <p:txBody>
          <a:bodyPr wrap="none" lIns="0" tIns="0" rIns="0" bIns="0" rtlCol="0" anchor="t"/>
          <a:lstStyle/>
          <a:p>
            <a:pPr algn="r" indent="0" marL="0">
              <a:lnSpc>
                <a:spcPts val="2300"/>
              </a:lnSpc>
              <a:buNone/>
            </a:pPr>
            <a:r>
              <a:rPr lang="en-US" sz="1850" dirty="0">
                <a:solidFill>
                  <a:srgbClr val="404155"/>
                </a:solidFill>
                <a:latin typeface="Corben" pitchFamily="34" charset="0"/>
                <a:ea typeface="Corben" pitchFamily="34" charset="-122"/>
                <a:cs typeface="Corben" pitchFamily="34" charset="-120"/>
              </a:rPr>
              <a:t>S3 Standard</a:t>
            </a:r>
            <a:endParaRPr lang="en-US" sz="1850" dirty="0"/>
          </a:p>
        </p:txBody>
      </p:sp>
      <p:sp>
        <p:nvSpPr>
          <p:cNvPr id="9" name="Text 7"/>
          <p:cNvSpPr/>
          <p:nvPr/>
        </p:nvSpPr>
        <p:spPr>
          <a:xfrm>
            <a:off x="743188" y="2494002"/>
            <a:ext cx="5619631" cy="560546"/>
          </a:xfrm>
          <a:prstGeom prst="rect">
            <a:avLst/>
          </a:prstGeom>
          <a:noFill/>
          <a:ln/>
        </p:spPr>
        <p:txBody>
          <a:bodyPr wrap="square" lIns="0" tIns="0" rIns="0" bIns="0" rtlCol="0" anchor="t"/>
          <a:lstStyle/>
          <a:p>
            <a:pPr algn="r" indent="0" marL="0">
              <a:lnSpc>
                <a:spcPts val="2200"/>
              </a:lnSpc>
              <a:buNone/>
            </a:pPr>
            <a:r>
              <a:rPr lang="en-US" sz="1450" dirty="0">
                <a:solidFill>
                  <a:srgbClr val="404155"/>
                </a:solidFill>
                <a:latin typeface="Nobile" pitchFamily="34" charset="0"/>
                <a:ea typeface="Nobile" pitchFamily="34" charset="-122"/>
                <a:cs typeface="Nobile" pitchFamily="34" charset="-120"/>
              </a:rPr>
              <a:t>Frequently accessed data. Millisecond latency. Use for active workloads and content distribution.</a:t>
            </a:r>
            <a:endParaRPr lang="en-US" sz="1450" dirty="0"/>
          </a:p>
        </p:txBody>
      </p:sp>
      <p:sp>
        <p:nvSpPr>
          <p:cNvPr id="10" name="Shape 8"/>
          <p:cNvSpPr/>
          <p:nvPr/>
        </p:nvSpPr>
        <p:spPr>
          <a:xfrm>
            <a:off x="7506593" y="3319582"/>
            <a:ext cx="571381" cy="22860"/>
          </a:xfrm>
          <a:prstGeom prst="roundRect">
            <a:avLst>
              <a:gd name="adj" fmla="val 349987"/>
            </a:avLst>
          </a:prstGeom>
          <a:solidFill>
            <a:srgbClr val="B8BFDF"/>
          </a:solidFill>
          <a:ln/>
        </p:spPr>
      </p:sp>
      <p:sp>
        <p:nvSpPr>
          <p:cNvPr id="11" name="Shape 9"/>
          <p:cNvSpPr/>
          <p:nvPr/>
        </p:nvSpPr>
        <p:spPr>
          <a:xfrm>
            <a:off x="7100947" y="3116818"/>
            <a:ext cx="428506" cy="428506"/>
          </a:xfrm>
          <a:prstGeom prst="roundRect">
            <a:avLst>
              <a:gd name="adj" fmla="val 18671"/>
            </a:avLst>
          </a:prstGeom>
          <a:solidFill>
            <a:srgbClr val="D2D9F9"/>
          </a:solidFill>
          <a:ln w="7620">
            <a:solidFill>
              <a:srgbClr val="B8BFDF"/>
            </a:solidFill>
            <a:prstDash val="solid"/>
          </a:ln>
        </p:spPr>
      </p:sp>
      <p:sp>
        <p:nvSpPr>
          <p:cNvPr id="12" name="Text 10"/>
          <p:cNvSpPr/>
          <p:nvPr/>
        </p:nvSpPr>
        <p:spPr>
          <a:xfrm>
            <a:off x="7172325" y="3152477"/>
            <a:ext cx="285631" cy="357068"/>
          </a:xfrm>
          <a:prstGeom prst="rect">
            <a:avLst/>
          </a:prstGeom>
          <a:noFill/>
          <a:ln/>
        </p:spPr>
        <p:txBody>
          <a:bodyPr wrap="none" lIns="0" tIns="0" rIns="0" bIns="0" rtlCol="0" anchor="t"/>
          <a:lstStyle/>
          <a:p>
            <a:pPr algn="ctr" indent="0" marL="0">
              <a:lnSpc>
                <a:spcPts val="2200"/>
              </a:lnSpc>
              <a:buNone/>
            </a:pPr>
            <a:r>
              <a:rPr lang="en-US" sz="2200" dirty="0">
                <a:solidFill>
                  <a:srgbClr val="404155"/>
                </a:solidFill>
                <a:latin typeface="Corben" pitchFamily="34" charset="0"/>
                <a:ea typeface="Corben" pitchFamily="34" charset="-122"/>
                <a:cs typeface="Corben" pitchFamily="34" charset="-120"/>
              </a:rPr>
              <a:t>2</a:t>
            </a:r>
            <a:endParaRPr lang="en-US" sz="2200" dirty="0"/>
          </a:p>
        </p:txBody>
      </p:sp>
      <p:sp>
        <p:nvSpPr>
          <p:cNvPr id="13" name="Text 11"/>
          <p:cNvSpPr/>
          <p:nvPr/>
        </p:nvSpPr>
        <p:spPr>
          <a:xfrm>
            <a:off x="8267581" y="3182183"/>
            <a:ext cx="2381131" cy="297656"/>
          </a:xfrm>
          <a:prstGeom prst="rect">
            <a:avLst/>
          </a:prstGeom>
          <a:noFill/>
          <a:ln/>
        </p:spPr>
        <p:txBody>
          <a:bodyPr wrap="none" lIns="0" tIns="0" rIns="0" bIns="0" rtlCol="0" anchor="t"/>
          <a:lstStyle/>
          <a:p>
            <a:pPr algn="l" indent="0" marL="0">
              <a:lnSpc>
                <a:spcPts val="2300"/>
              </a:lnSpc>
              <a:buNone/>
            </a:pPr>
            <a:r>
              <a:rPr lang="en-US" sz="1850" dirty="0">
                <a:solidFill>
                  <a:srgbClr val="404155"/>
                </a:solidFill>
                <a:latin typeface="Corben" pitchFamily="34" charset="0"/>
                <a:ea typeface="Corben" pitchFamily="34" charset="-122"/>
                <a:cs typeface="Corben" pitchFamily="34" charset="-120"/>
              </a:rPr>
              <a:t>S3 Intelligent-Tiering</a:t>
            </a:r>
            <a:endParaRPr lang="en-US" sz="1850" dirty="0"/>
          </a:p>
        </p:txBody>
      </p:sp>
      <p:sp>
        <p:nvSpPr>
          <p:cNvPr id="14" name="Text 12"/>
          <p:cNvSpPr/>
          <p:nvPr/>
        </p:nvSpPr>
        <p:spPr>
          <a:xfrm>
            <a:off x="8267581" y="3575804"/>
            <a:ext cx="5619631" cy="560546"/>
          </a:xfrm>
          <a:prstGeom prst="rect">
            <a:avLst/>
          </a:prstGeom>
          <a:noFill/>
          <a:ln/>
        </p:spPr>
        <p:txBody>
          <a:bodyPr wrap="square" lIns="0" tIns="0" rIns="0" bIns="0" rtlCol="0" anchor="t"/>
          <a:lstStyle/>
          <a:p>
            <a:pPr algn="l" indent="0" marL="0">
              <a:lnSpc>
                <a:spcPts val="2200"/>
              </a:lnSpc>
              <a:buNone/>
            </a:pPr>
            <a:r>
              <a:rPr lang="en-US" sz="1450" dirty="0">
                <a:solidFill>
                  <a:srgbClr val="404155"/>
                </a:solidFill>
                <a:latin typeface="Nobile" pitchFamily="34" charset="0"/>
                <a:ea typeface="Nobile" pitchFamily="34" charset="-122"/>
                <a:cs typeface="Nobile" pitchFamily="34" charset="-120"/>
              </a:rPr>
              <a:t>Automatic cost optimization. Moves objects between tiers based on access patterns. No retrieval fees.</a:t>
            </a:r>
            <a:endParaRPr lang="en-US" sz="1450" dirty="0"/>
          </a:p>
        </p:txBody>
      </p:sp>
      <p:sp>
        <p:nvSpPr>
          <p:cNvPr id="15" name="Shape 13"/>
          <p:cNvSpPr/>
          <p:nvPr/>
        </p:nvSpPr>
        <p:spPr>
          <a:xfrm>
            <a:off x="6552426" y="4274106"/>
            <a:ext cx="571381" cy="22860"/>
          </a:xfrm>
          <a:prstGeom prst="roundRect">
            <a:avLst>
              <a:gd name="adj" fmla="val 349987"/>
            </a:avLst>
          </a:prstGeom>
          <a:solidFill>
            <a:srgbClr val="B8BFDF"/>
          </a:solidFill>
          <a:ln/>
        </p:spPr>
      </p:sp>
      <p:sp>
        <p:nvSpPr>
          <p:cNvPr id="16" name="Shape 14"/>
          <p:cNvSpPr/>
          <p:nvPr/>
        </p:nvSpPr>
        <p:spPr>
          <a:xfrm>
            <a:off x="7100947" y="4071342"/>
            <a:ext cx="428506" cy="428506"/>
          </a:xfrm>
          <a:prstGeom prst="roundRect">
            <a:avLst>
              <a:gd name="adj" fmla="val 18671"/>
            </a:avLst>
          </a:prstGeom>
          <a:solidFill>
            <a:srgbClr val="D2D9F9"/>
          </a:solidFill>
          <a:ln w="7620">
            <a:solidFill>
              <a:srgbClr val="B8BFDF"/>
            </a:solidFill>
            <a:prstDash val="solid"/>
          </a:ln>
        </p:spPr>
      </p:sp>
      <p:sp>
        <p:nvSpPr>
          <p:cNvPr id="17" name="Text 15"/>
          <p:cNvSpPr/>
          <p:nvPr/>
        </p:nvSpPr>
        <p:spPr>
          <a:xfrm>
            <a:off x="7172325" y="4107001"/>
            <a:ext cx="285631" cy="357068"/>
          </a:xfrm>
          <a:prstGeom prst="rect">
            <a:avLst/>
          </a:prstGeom>
          <a:noFill/>
          <a:ln/>
        </p:spPr>
        <p:txBody>
          <a:bodyPr wrap="none" lIns="0" tIns="0" rIns="0" bIns="0" rtlCol="0" anchor="t"/>
          <a:lstStyle/>
          <a:p>
            <a:pPr algn="ctr" indent="0" marL="0">
              <a:lnSpc>
                <a:spcPts val="2200"/>
              </a:lnSpc>
              <a:buNone/>
            </a:pPr>
            <a:r>
              <a:rPr lang="en-US" sz="2200" dirty="0">
                <a:solidFill>
                  <a:srgbClr val="404155"/>
                </a:solidFill>
                <a:latin typeface="Corben" pitchFamily="34" charset="0"/>
                <a:ea typeface="Corben" pitchFamily="34" charset="-122"/>
                <a:cs typeface="Corben" pitchFamily="34" charset="-120"/>
              </a:rPr>
              <a:t>3</a:t>
            </a:r>
            <a:endParaRPr lang="en-US" sz="2200" dirty="0"/>
          </a:p>
        </p:txBody>
      </p:sp>
      <p:sp>
        <p:nvSpPr>
          <p:cNvPr id="18" name="Text 16"/>
          <p:cNvSpPr/>
          <p:nvPr/>
        </p:nvSpPr>
        <p:spPr>
          <a:xfrm>
            <a:off x="3981688" y="4136708"/>
            <a:ext cx="2381131" cy="297656"/>
          </a:xfrm>
          <a:prstGeom prst="rect">
            <a:avLst/>
          </a:prstGeom>
          <a:noFill/>
          <a:ln/>
        </p:spPr>
        <p:txBody>
          <a:bodyPr wrap="none" lIns="0" tIns="0" rIns="0" bIns="0" rtlCol="0" anchor="t"/>
          <a:lstStyle/>
          <a:p>
            <a:pPr algn="r" indent="0" marL="0">
              <a:lnSpc>
                <a:spcPts val="2300"/>
              </a:lnSpc>
              <a:buNone/>
            </a:pPr>
            <a:r>
              <a:rPr lang="en-US" sz="1850" dirty="0">
                <a:solidFill>
                  <a:srgbClr val="404155"/>
                </a:solidFill>
                <a:latin typeface="Corben" pitchFamily="34" charset="0"/>
                <a:ea typeface="Corben" pitchFamily="34" charset="-122"/>
                <a:cs typeface="Corben" pitchFamily="34" charset="-120"/>
              </a:rPr>
              <a:t>S3 Standard-IA</a:t>
            </a:r>
            <a:endParaRPr lang="en-US" sz="1850" dirty="0"/>
          </a:p>
        </p:txBody>
      </p:sp>
      <p:sp>
        <p:nvSpPr>
          <p:cNvPr id="19" name="Text 17"/>
          <p:cNvSpPr/>
          <p:nvPr/>
        </p:nvSpPr>
        <p:spPr>
          <a:xfrm>
            <a:off x="743188" y="4530328"/>
            <a:ext cx="5619631" cy="560546"/>
          </a:xfrm>
          <a:prstGeom prst="rect">
            <a:avLst/>
          </a:prstGeom>
          <a:noFill/>
          <a:ln/>
        </p:spPr>
        <p:txBody>
          <a:bodyPr wrap="square" lIns="0" tIns="0" rIns="0" bIns="0" rtlCol="0" anchor="t"/>
          <a:lstStyle/>
          <a:p>
            <a:pPr algn="r" indent="0" marL="0">
              <a:lnSpc>
                <a:spcPts val="2200"/>
              </a:lnSpc>
              <a:buNone/>
            </a:pPr>
            <a:r>
              <a:rPr lang="en-US" sz="1450" dirty="0">
                <a:solidFill>
                  <a:srgbClr val="404155"/>
                </a:solidFill>
                <a:latin typeface="Nobile" pitchFamily="34" charset="0"/>
                <a:ea typeface="Nobile" pitchFamily="34" charset="-122"/>
                <a:cs typeface="Nobile" pitchFamily="34" charset="-120"/>
              </a:rPr>
              <a:t>Infrequent access, but rapid retrieval when needed. 50% cheaper than Standard. Ideal for backups.</a:t>
            </a:r>
            <a:endParaRPr lang="en-US" sz="1450" dirty="0"/>
          </a:p>
        </p:txBody>
      </p:sp>
      <p:sp>
        <p:nvSpPr>
          <p:cNvPr id="20" name="Shape 18"/>
          <p:cNvSpPr/>
          <p:nvPr/>
        </p:nvSpPr>
        <p:spPr>
          <a:xfrm>
            <a:off x="7506593" y="5228749"/>
            <a:ext cx="571381" cy="22860"/>
          </a:xfrm>
          <a:prstGeom prst="roundRect">
            <a:avLst>
              <a:gd name="adj" fmla="val 349987"/>
            </a:avLst>
          </a:prstGeom>
          <a:solidFill>
            <a:srgbClr val="B8BFDF"/>
          </a:solidFill>
          <a:ln/>
        </p:spPr>
      </p:sp>
      <p:sp>
        <p:nvSpPr>
          <p:cNvPr id="21" name="Shape 19"/>
          <p:cNvSpPr/>
          <p:nvPr/>
        </p:nvSpPr>
        <p:spPr>
          <a:xfrm>
            <a:off x="7100947" y="5025985"/>
            <a:ext cx="428506" cy="428506"/>
          </a:xfrm>
          <a:prstGeom prst="roundRect">
            <a:avLst>
              <a:gd name="adj" fmla="val 18671"/>
            </a:avLst>
          </a:prstGeom>
          <a:solidFill>
            <a:srgbClr val="D2D9F9"/>
          </a:solidFill>
          <a:ln w="7620">
            <a:solidFill>
              <a:srgbClr val="B8BFDF"/>
            </a:solidFill>
            <a:prstDash val="solid"/>
          </a:ln>
        </p:spPr>
      </p:sp>
      <p:sp>
        <p:nvSpPr>
          <p:cNvPr id="22" name="Text 20"/>
          <p:cNvSpPr/>
          <p:nvPr/>
        </p:nvSpPr>
        <p:spPr>
          <a:xfrm>
            <a:off x="7172325" y="5061645"/>
            <a:ext cx="285631" cy="357068"/>
          </a:xfrm>
          <a:prstGeom prst="rect">
            <a:avLst/>
          </a:prstGeom>
          <a:noFill/>
          <a:ln/>
        </p:spPr>
        <p:txBody>
          <a:bodyPr wrap="none" lIns="0" tIns="0" rIns="0" bIns="0" rtlCol="0" anchor="t"/>
          <a:lstStyle/>
          <a:p>
            <a:pPr algn="ctr" indent="0" marL="0">
              <a:lnSpc>
                <a:spcPts val="2200"/>
              </a:lnSpc>
              <a:buNone/>
            </a:pPr>
            <a:r>
              <a:rPr lang="en-US" sz="2200" dirty="0">
                <a:solidFill>
                  <a:srgbClr val="404155"/>
                </a:solidFill>
                <a:latin typeface="Corben" pitchFamily="34" charset="0"/>
                <a:ea typeface="Corben" pitchFamily="34" charset="-122"/>
                <a:cs typeface="Corben" pitchFamily="34" charset="-120"/>
              </a:rPr>
              <a:t>4</a:t>
            </a:r>
            <a:endParaRPr lang="en-US" sz="2200" dirty="0"/>
          </a:p>
        </p:txBody>
      </p:sp>
      <p:sp>
        <p:nvSpPr>
          <p:cNvPr id="23" name="Text 21"/>
          <p:cNvSpPr/>
          <p:nvPr/>
        </p:nvSpPr>
        <p:spPr>
          <a:xfrm>
            <a:off x="8267581" y="5091351"/>
            <a:ext cx="2381131" cy="297656"/>
          </a:xfrm>
          <a:prstGeom prst="rect">
            <a:avLst/>
          </a:prstGeom>
          <a:noFill/>
          <a:ln/>
        </p:spPr>
        <p:txBody>
          <a:bodyPr wrap="none" lIns="0" tIns="0" rIns="0" bIns="0" rtlCol="0" anchor="t"/>
          <a:lstStyle/>
          <a:p>
            <a:pPr algn="l" indent="0" marL="0">
              <a:lnSpc>
                <a:spcPts val="2300"/>
              </a:lnSpc>
              <a:buNone/>
            </a:pPr>
            <a:r>
              <a:rPr lang="en-US" sz="1850" dirty="0">
                <a:solidFill>
                  <a:srgbClr val="404155"/>
                </a:solidFill>
                <a:latin typeface="Corben" pitchFamily="34" charset="0"/>
                <a:ea typeface="Corben" pitchFamily="34" charset="-122"/>
                <a:cs typeface="Corben" pitchFamily="34" charset="-120"/>
              </a:rPr>
              <a:t>S3 Glacier</a:t>
            </a:r>
            <a:endParaRPr lang="en-US" sz="1850" dirty="0"/>
          </a:p>
        </p:txBody>
      </p:sp>
      <p:sp>
        <p:nvSpPr>
          <p:cNvPr id="24" name="Text 22"/>
          <p:cNvSpPr/>
          <p:nvPr/>
        </p:nvSpPr>
        <p:spPr>
          <a:xfrm>
            <a:off x="8267581" y="5484971"/>
            <a:ext cx="5619631" cy="560546"/>
          </a:xfrm>
          <a:prstGeom prst="rect">
            <a:avLst/>
          </a:prstGeom>
          <a:noFill/>
          <a:ln/>
        </p:spPr>
        <p:txBody>
          <a:bodyPr wrap="square" lIns="0" tIns="0" rIns="0" bIns="0" rtlCol="0" anchor="t"/>
          <a:lstStyle/>
          <a:p>
            <a:pPr algn="l" indent="0" marL="0">
              <a:lnSpc>
                <a:spcPts val="2200"/>
              </a:lnSpc>
              <a:buNone/>
            </a:pPr>
            <a:r>
              <a:rPr lang="en-US" sz="1450" dirty="0">
                <a:solidFill>
                  <a:srgbClr val="404155"/>
                </a:solidFill>
                <a:latin typeface="Nobile" pitchFamily="34" charset="0"/>
                <a:ea typeface="Nobile" pitchFamily="34" charset="-122"/>
                <a:cs typeface="Nobile" pitchFamily="34" charset="-120"/>
              </a:rPr>
              <a:t>Long-term archive. Retrieval in minutes to hours. 70% cheaper for data accessed once or twice per year.</a:t>
            </a:r>
            <a:endParaRPr lang="en-US" sz="1450" dirty="0"/>
          </a:p>
        </p:txBody>
      </p:sp>
      <p:sp>
        <p:nvSpPr>
          <p:cNvPr id="25" name="Shape 23"/>
          <p:cNvSpPr/>
          <p:nvPr/>
        </p:nvSpPr>
        <p:spPr>
          <a:xfrm>
            <a:off x="6552426" y="6183392"/>
            <a:ext cx="571381" cy="22860"/>
          </a:xfrm>
          <a:prstGeom prst="roundRect">
            <a:avLst>
              <a:gd name="adj" fmla="val 349987"/>
            </a:avLst>
          </a:prstGeom>
          <a:solidFill>
            <a:srgbClr val="B8BFDF"/>
          </a:solidFill>
          <a:ln/>
        </p:spPr>
      </p:sp>
      <p:sp>
        <p:nvSpPr>
          <p:cNvPr id="26" name="Shape 24"/>
          <p:cNvSpPr/>
          <p:nvPr/>
        </p:nvSpPr>
        <p:spPr>
          <a:xfrm>
            <a:off x="7100947" y="5980628"/>
            <a:ext cx="428506" cy="428506"/>
          </a:xfrm>
          <a:prstGeom prst="roundRect">
            <a:avLst>
              <a:gd name="adj" fmla="val 18671"/>
            </a:avLst>
          </a:prstGeom>
          <a:solidFill>
            <a:srgbClr val="D2D9F9"/>
          </a:solidFill>
          <a:ln w="7620">
            <a:solidFill>
              <a:srgbClr val="B8BFDF"/>
            </a:solidFill>
            <a:prstDash val="solid"/>
          </a:ln>
        </p:spPr>
      </p:sp>
      <p:sp>
        <p:nvSpPr>
          <p:cNvPr id="27" name="Text 25"/>
          <p:cNvSpPr/>
          <p:nvPr/>
        </p:nvSpPr>
        <p:spPr>
          <a:xfrm>
            <a:off x="7172325" y="6016288"/>
            <a:ext cx="285631" cy="357068"/>
          </a:xfrm>
          <a:prstGeom prst="rect">
            <a:avLst/>
          </a:prstGeom>
          <a:noFill/>
          <a:ln/>
        </p:spPr>
        <p:txBody>
          <a:bodyPr wrap="none" lIns="0" tIns="0" rIns="0" bIns="0" rtlCol="0" anchor="t"/>
          <a:lstStyle/>
          <a:p>
            <a:pPr algn="ctr" indent="0" marL="0">
              <a:lnSpc>
                <a:spcPts val="2200"/>
              </a:lnSpc>
              <a:buNone/>
            </a:pPr>
            <a:r>
              <a:rPr lang="en-US" sz="2200" dirty="0">
                <a:solidFill>
                  <a:srgbClr val="404155"/>
                </a:solidFill>
                <a:latin typeface="Corben" pitchFamily="34" charset="0"/>
                <a:ea typeface="Corben" pitchFamily="34" charset="-122"/>
                <a:cs typeface="Corben" pitchFamily="34" charset="-120"/>
              </a:rPr>
              <a:t>5</a:t>
            </a:r>
            <a:endParaRPr lang="en-US" sz="2200" dirty="0"/>
          </a:p>
        </p:txBody>
      </p:sp>
      <p:sp>
        <p:nvSpPr>
          <p:cNvPr id="28" name="Text 26"/>
          <p:cNvSpPr/>
          <p:nvPr/>
        </p:nvSpPr>
        <p:spPr>
          <a:xfrm>
            <a:off x="3703439" y="6045994"/>
            <a:ext cx="2659380" cy="297656"/>
          </a:xfrm>
          <a:prstGeom prst="rect">
            <a:avLst/>
          </a:prstGeom>
          <a:noFill/>
          <a:ln/>
        </p:spPr>
        <p:txBody>
          <a:bodyPr wrap="none" lIns="0" tIns="0" rIns="0" bIns="0" rtlCol="0" anchor="t"/>
          <a:lstStyle/>
          <a:p>
            <a:pPr algn="r" indent="0" marL="0">
              <a:lnSpc>
                <a:spcPts val="2300"/>
              </a:lnSpc>
              <a:buNone/>
            </a:pPr>
            <a:r>
              <a:rPr lang="en-US" sz="1850" dirty="0">
                <a:solidFill>
                  <a:srgbClr val="404155"/>
                </a:solidFill>
                <a:latin typeface="Corben" pitchFamily="34" charset="0"/>
                <a:ea typeface="Corben" pitchFamily="34" charset="-122"/>
                <a:cs typeface="Corben" pitchFamily="34" charset="-120"/>
              </a:rPr>
              <a:t>S3 Glacier Deep Archive</a:t>
            </a:r>
            <a:endParaRPr lang="en-US" sz="1850" dirty="0"/>
          </a:p>
        </p:txBody>
      </p:sp>
      <p:sp>
        <p:nvSpPr>
          <p:cNvPr id="29" name="Text 27"/>
          <p:cNvSpPr/>
          <p:nvPr/>
        </p:nvSpPr>
        <p:spPr>
          <a:xfrm>
            <a:off x="743188" y="6439614"/>
            <a:ext cx="5619631" cy="560546"/>
          </a:xfrm>
          <a:prstGeom prst="rect">
            <a:avLst/>
          </a:prstGeom>
          <a:noFill/>
          <a:ln/>
        </p:spPr>
        <p:txBody>
          <a:bodyPr wrap="square" lIns="0" tIns="0" rIns="0" bIns="0" rtlCol="0" anchor="t"/>
          <a:lstStyle/>
          <a:p>
            <a:pPr algn="r" indent="0" marL="0">
              <a:lnSpc>
                <a:spcPts val="2200"/>
              </a:lnSpc>
              <a:buNone/>
            </a:pPr>
            <a:r>
              <a:rPr lang="en-US" sz="1450" dirty="0">
                <a:solidFill>
                  <a:srgbClr val="404155"/>
                </a:solidFill>
                <a:latin typeface="Nobile" pitchFamily="34" charset="0"/>
                <a:ea typeface="Nobile" pitchFamily="34" charset="-122"/>
                <a:cs typeface="Nobile" pitchFamily="34" charset="-120"/>
              </a:rPr>
              <a:t>Lowest cost storage. Retrieval within 12 hours. Perfect for compliance archives retained for 7-10 years.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55050"/>
            <a:ext cx="6857762" cy="708779"/>
          </a:xfrm>
          <a:prstGeom prst="rect">
            <a:avLst/>
          </a:prstGeom>
          <a:noFill/>
          <a:ln/>
        </p:spPr>
        <p:txBody>
          <a:bodyPr wrap="none" lIns="0" tIns="0" rIns="0" bIns="0" rtlCol="0" anchor="t"/>
          <a:lstStyle/>
          <a:p>
            <a:pPr algn="l" indent="0" marL="0">
              <a:lnSpc>
                <a:spcPts val="5550"/>
              </a:lnSpc>
              <a:buNone/>
            </a:pPr>
            <a:r>
              <a:rPr lang="en-US" sz="4450" dirty="0">
                <a:solidFill>
                  <a:srgbClr val="1B1B27"/>
                </a:solidFill>
                <a:latin typeface="Corben" pitchFamily="34" charset="0"/>
                <a:ea typeface="Corben" pitchFamily="34" charset="-122"/>
                <a:cs typeface="Corben" pitchFamily="34" charset="-120"/>
              </a:rPr>
              <a:t>Securing Your S3 Buckets</a:t>
            </a:r>
            <a:endParaRPr lang="en-US" sz="4450" dirty="0"/>
          </a:p>
        </p:txBody>
      </p:sp>
      <p:sp>
        <p:nvSpPr>
          <p:cNvPr id="3" name="Text 1"/>
          <p:cNvSpPr/>
          <p:nvPr/>
        </p:nvSpPr>
        <p:spPr>
          <a:xfrm>
            <a:off x="793790" y="2630805"/>
            <a:ext cx="3352562" cy="354330"/>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Corben" pitchFamily="34" charset="0"/>
                <a:ea typeface="Corben" pitchFamily="34" charset="-122"/>
                <a:cs typeface="Corben" pitchFamily="34" charset="-120"/>
              </a:rPr>
              <a:t>Security is Multi-Layered</a:t>
            </a:r>
            <a:endParaRPr lang="en-US" sz="2200" dirty="0"/>
          </a:p>
        </p:txBody>
      </p:sp>
      <p:sp>
        <p:nvSpPr>
          <p:cNvPr id="4" name="Text 2"/>
          <p:cNvSpPr/>
          <p:nvPr/>
        </p:nvSpPr>
        <p:spPr>
          <a:xfrm>
            <a:off x="793790" y="3211949"/>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S3 provides multiple security mechanisms that work together to protect your data. Understanding when to use each is critical for passing certification exams and building secure applications.</a:t>
            </a:r>
            <a:endParaRPr lang="en-US" sz="1750" dirty="0"/>
          </a:p>
        </p:txBody>
      </p:sp>
      <p:sp>
        <p:nvSpPr>
          <p:cNvPr id="5" name="Text 3"/>
          <p:cNvSpPr/>
          <p:nvPr/>
        </p:nvSpPr>
        <p:spPr>
          <a:xfrm>
            <a:off x="793790" y="4867632"/>
            <a:ext cx="6244709" cy="1088708"/>
          </a:xfrm>
          <a:prstGeom prst="rect">
            <a:avLst/>
          </a:prstGeom>
          <a:noFill/>
          <a:ln/>
        </p:spPr>
        <p:txBody>
          <a:bodyPr wrap="square" lIns="0" tIns="0" rIns="0" bIns="0" rtlCol="0" anchor="t"/>
          <a:lstStyle/>
          <a:p>
            <a:pPr algn="l" indent="0" marL="0">
              <a:lnSpc>
                <a:spcPts val="2850"/>
              </a:lnSpc>
              <a:buNone/>
            </a:pPr>
            <a:r>
              <a:rPr lang="en-US" sz="1750" b="1" dirty="0">
                <a:solidFill>
                  <a:srgbClr val="404155"/>
                </a:solidFill>
                <a:latin typeface="Nobile" pitchFamily="34" charset="0"/>
                <a:ea typeface="Nobile" pitchFamily="34" charset="-122"/>
                <a:cs typeface="Nobile" pitchFamily="34" charset="-120"/>
              </a:rPr>
              <a:t>Default behavior:</a:t>
            </a:r>
            <a:pPr algn="l" indent="0" marL="0">
              <a:lnSpc>
                <a:spcPts val="2850"/>
              </a:lnSpc>
              <a:buNone/>
            </a:pPr>
            <a:r>
              <a:rPr lang="en-US" sz="1750" dirty="0">
                <a:solidFill>
                  <a:srgbClr val="404155"/>
                </a:solidFill>
                <a:latin typeface="Nobile" pitchFamily="34" charset="0"/>
                <a:ea typeface="Nobile" pitchFamily="34" charset="-122"/>
                <a:cs typeface="Nobile" pitchFamily="34" charset="-120"/>
              </a:rPr>
              <a:t> All new buckets are private. You must explicitly grant access. Block Public Access is enabled by default as an additional safety net.</a:t>
            </a:r>
            <a:endParaRPr lang="en-US" sz="1750" dirty="0"/>
          </a:p>
        </p:txBody>
      </p:sp>
      <p:sp>
        <p:nvSpPr>
          <p:cNvPr id="6" name="Shape 4"/>
          <p:cNvSpPr/>
          <p:nvPr/>
        </p:nvSpPr>
        <p:spPr>
          <a:xfrm>
            <a:off x="7436168" y="2403991"/>
            <a:ext cx="6571417" cy="4470559"/>
          </a:xfrm>
          <a:prstGeom prst="roundRect">
            <a:avLst>
              <a:gd name="adj" fmla="val 3653"/>
            </a:avLst>
          </a:prstGeom>
          <a:solidFill>
            <a:srgbClr val="4967E9">
              <a:alpha val="95000"/>
            </a:srgbClr>
          </a:solidFill>
          <a:ln/>
        </p:spPr>
      </p:sp>
      <p:sp>
        <p:nvSpPr>
          <p:cNvPr id="7" name="Text 5"/>
          <p:cNvSpPr/>
          <p:nvPr/>
        </p:nvSpPr>
        <p:spPr>
          <a:xfrm>
            <a:off x="7662982" y="2630805"/>
            <a:ext cx="3028117"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Corben" pitchFamily="34" charset="0"/>
                <a:ea typeface="Corben" pitchFamily="34" charset="-122"/>
                <a:cs typeface="Corben" pitchFamily="34" charset="-120"/>
              </a:rPr>
              <a:t>Security Best Practices</a:t>
            </a:r>
            <a:endParaRPr lang="en-US" sz="2200" dirty="0"/>
          </a:p>
        </p:txBody>
      </p:sp>
      <p:sp>
        <p:nvSpPr>
          <p:cNvPr id="8" name="Text 6"/>
          <p:cNvSpPr/>
          <p:nvPr/>
        </p:nvSpPr>
        <p:spPr>
          <a:xfrm>
            <a:off x="7662982" y="3211949"/>
            <a:ext cx="6117788" cy="3266321"/>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Always enable Block Public Access unless you specifically need public buckets</a:t>
            </a:r>
            <a:endParaRPr lang="en-US" sz="1750" dirty="0"/>
          </a:p>
          <a:p>
            <a:pPr algn="l" marL="342900" indent="-342900">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Use IAM policies for user permissions, bucket policies for resource-based access</a:t>
            </a:r>
            <a:endParaRPr lang="en-US" sz="1750" dirty="0"/>
          </a:p>
          <a:p>
            <a:pPr algn="l" marL="342900" indent="-342900">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Enable encryption at rest (SSE-S3 is free and automatic)</a:t>
            </a:r>
            <a:endParaRPr lang="en-US" sz="1750" dirty="0"/>
          </a:p>
          <a:p>
            <a:pPr algn="l" marL="342900" indent="-342900">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Enable versioning to protect against accidental deletions</a:t>
            </a:r>
            <a:endParaRPr lang="en-US" sz="1750" dirty="0"/>
          </a:p>
          <a:p>
            <a:pPr algn="l" marL="342900" indent="-342900">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Turn on CloudTrail logging to monitor access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4858" y="815935"/>
            <a:ext cx="10843617" cy="682943"/>
          </a:xfrm>
          <a:prstGeom prst="rect">
            <a:avLst/>
          </a:prstGeom>
          <a:noFill/>
          <a:ln/>
        </p:spPr>
        <p:txBody>
          <a:bodyPr wrap="none" lIns="0" tIns="0" rIns="0" bIns="0" rtlCol="0" anchor="t"/>
          <a:lstStyle/>
          <a:p>
            <a:pPr algn="l" indent="0" marL="0">
              <a:lnSpc>
                <a:spcPts val="5350"/>
              </a:lnSpc>
              <a:buNone/>
            </a:pPr>
            <a:r>
              <a:rPr lang="en-US" sz="4300" dirty="0">
                <a:solidFill>
                  <a:srgbClr val="1B1B27"/>
                </a:solidFill>
                <a:latin typeface="Corben" pitchFamily="34" charset="0"/>
                <a:ea typeface="Corben" pitchFamily="34" charset="-122"/>
                <a:cs typeface="Corben" pitchFamily="34" charset="-120"/>
              </a:rPr>
              <a:t>Data Management &amp; Lifecycle Automation</a:t>
            </a:r>
            <a:endParaRPr lang="en-US" sz="4300" dirty="0"/>
          </a:p>
        </p:txBody>
      </p:sp>
      <p:pic>
        <p:nvPicPr>
          <p:cNvPr id="3" name="Image 0" descr="preencoded.png">    </p:cNvPr>
          <p:cNvPicPr>
            <a:picLocks noChangeAspect="1"/>
          </p:cNvPicPr>
          <p:nvPr/>
        </p:nvPicPr>
        <p:blipFill>
          <a:blip r:embed="rId1"/>
          <a:stretch>
            <a:fillRect/>
          </a:stretch>
        </p:blipFill>
        <p:spPr>
          <a:xfrm>
            <a:off x="764858" y="1919883"/>
            <a:ext cx="6550343" cy="874038"/>
          </a:xfrm>
          <a:prstGeom prst="rect">
            <a:avLst/>
          </a:prstGeom>
        </p:spPr>
      </p:pic>
      <p:sp>
        <p:nvSpPr>
          <p:cNvPr id="4" name="Text 1"/>
          <p:cNvSpPr/>
          <p:nvPr/>
        </p:nvSpPr>
        <p:spPr>
          <a:xfrm>
            <a:off x="983337" y="3004423"/>
            <a:ext cx="2846546" cy="341352"/>
          </a:xfrm>
          <a:prstGeom prst="rect">
            <a:avLst/>
          </a:prstGeom>
          <a:noFill/>
          <a:ln/>
        </p:spPr>
        <p:txBody>
          <a:bodyPr wrap="none" lIns="0" tIns="0" rIns="0" bIns="0" rtlCol="0" anchor="t"/>
          <a:lstStyle/>
          <a:p>
            <a:pPr algn="l" indent="0" marL="0">
              <a:lnSpc>
                <a:spcPts val="2650"/>
              </a:lnSpc>
              <a:buNone/>
            </a:pPr>
            <a:r>
              <a:rPr lang="en-US" sz="2150" dirty="0">
                <a:solidFill>
                  <a:srgbClr val="404155"/>
                </a:solidFill>
                <a:latin typeface="Corben" pitchFamily="34" charset="0"/>
                <a:ea typeface="Corben" pitchFamily="34" charset="-122"/>
                <a:cs typeface="Corben" pitchFamily="34" charset="-120"/>
              </a:rPr>
              <a:t>Upload to S3 Standard</a:t>
            </a:r>
            <a:endParaRPr lang="en-US" sz="2150" dirty="0"/>
          </a:p>
        </p:txBody>
      </p:sp>
      <p:sp>
        <p:nvSpPr>
          <p:cNvPr id="5" name="Text 2"/>
          <p:cNvSpPr/>
          <p:nvPr/>
        </p:nvSpPr>
        <p:spPr>
          <a:xfrm>
            <a:off x="983337" y="3471982"/>
            <a:ext cx="6113383" cy="343138"/>
          </a:xfrm>
          <a:prstGeom prst="rect">
            <a:avLst/>
          </a:prstGeom>
          <a:noFill/>
          <a:ln/>
        </p:spPr>
        <p:txBody>
          <a:bodyPr wrap="none" lIns="0" tIns="0" rIns="0" bIns="0" rtlCol="0" anchor="t"/>
          <a:lstStyle/>
          <a:p>
            <a:pPr algn="l" indent="0" marL="0">
              <a:lnSpc>
                <a:spcPts val="2700"/>
              </a:lnSpc>
              <a:buNone/>
            </a:pPr>
            <a:r>
              <a:rPr lang="en-US" sz="1700" dirty="0">
                <a:solidFill>
                  <a:srgbClr val="404155"/>
                </a:solidFill>
                <a:latin typeface="Nobile" pitchFamily="34" charset="0"/>
                <a:ea typeface="Nobile" pitchFamily="34" charset="-122"/>
                <a:cs typeface="Nobile" pitchFamily="34" charset="-120"/>
              </a:rPr>
              <a:t>Objects start in Standard storage class for frequent access</a:t>
            </a:r>
            <a:endParaRPr lang="en-US" sz="1700" dirty="0"/>
          </a:p>
        </p:txBody>
      </p:sp>
      <p:pic>
        <p:nvPicPr>
          <p:cNvPr id="6" name="Image 1" descr="preencoded.png">    </p:cNvPr>
          <p:cNvPicPr>
            <a:picLocks noChangeAspect="1"/>
          </p:cNvPicPr>
          <p:nvPr/>
        </p:nvPicPr>
        <p:blipFill>
          <a:blip r:embed="rId2"/>
          <a:stretch>
            <a:fillRect/>
          </a:stretch>
        </p:blipFill>
        <p:spPr>
          <a:xfrm>
            <a:off x="7315200" y="1919883"/>
            <a:ext cx="6550343" cy="874038"/>
          </a:xfrm>
          <a:prstGeom prst="rect">
            <a:avLst/>
          </a:prstGeom>
        </p:spPr>
      </p:pic>
      <p:sp>
        <p:nvSpPr>
          <p:cNvPr id="7" name="Text 3"/>
          <p:cNvSpPr/>
          <p:nvPr/>
        </p:nvSpPr>
        <p:spPr>
          <a:xfrm>
            <a:off x="7533680" y="3004423"/>
            <a:ext cx="3834884" cy="341352"/>
          </a:xfrm>
          <a:prstGeom prst="rect">
            <a:avLst/>
          </a:prstGeom>
          <a:noFill/>
          <a:ln/>
        </p:spPr>
        <p:txBody>
          <a:bodyPr wrap="none" lIns="0" tIns="0" rIns="0" bIns="0" rtlCol="0" anchor="t"/>
          <a:lstStyle/>
          <a:p>
            <a:pPr algn="l" indent="0" marL="0">
              <a:lnSpc>
                <a:spcPts val="2650"/>
              </a:lnSpc>
              <a:buNone/>
            </a:pPr>
            <a:r>
              <a:rPr lang="en-US" sz="2150" dirty="0">
                <a:solidFill>
                  <a:srgbClr val="404155"/>
                </a:solidFill>
                <a:latin typeface="Corben" pitchFamily="34" charset="0"/>
                <a:ea typeface="Corben" pitchFamily="34" charset="-122"/>
                <a:cs typeface="Corben" pitchFamily="34" charset="-120"/>
              </a:rPr>
              <a:t>30 Days: Move to Standard-IA</a:t>
            </a:r>
            <a:endParaRPr lang="en-US" sz="2150" dirty="0"/>
          </a:p>
        </p:txBody>
      </p:sp>
      <p:sp>
        <p:nvSpPr>
          <p:cNvPr id="8" name="Text 4"/>
          <p:cNvSpPr/>
          <p:nvPr/>
        </p:nvSpPr>
        <p:spPr>
          <a:xfrm>
            <a:off x="7533680" y="3471982"/>
            <a:ext cx="6113383" cy="686276"/>
          </a:xfrm>
          <a:prstGeom prst="rect">
            <a:avLst/>
          </a:prstGeom>
          <a:noFill/>
          <a:ln/>
        </p:spPr>
        <p:txBody>
          <a:bodyPr wrap="square" lIns="0" tIns="0" rIns="0" bIns="0" rtlCol="0" anchor="t"/>
          <a:lstStyle/>
          <a:p>
            <a:pPr algn="l" indent="0" marL="0">
              <a:lnSpc>
                <a:spcPts val="2700"/>
              </a:lnSpc>
              <a:buNone/>
            </a:pPr>
            <a:r>
              <a:rPr lang="en-US" sz="1700" dirty="0">
                <a:solidFill>
                  <a:srgbClr val="404155"/>
                </a:solidFill>
                <a:latin typeface="Nobile" pitchFamily="34" charset="0"/>
                <a:ea typeface="Nobile" pitchFamily="34" charset="-122"/>
                <a:cs typeface="Nobile" pitchFamily="34" charset="-120"/>
              </a:rPr>
              <a:t>Lifecycle rule transitions to Infrequent Access after one month</a:t>
            </a:r>
            <a:endParaRPr lang="en-US" sz="1700" dirty="0"/>
          </a:p>
        </p:txBody>
      </p:sp>
      <p:pic>
        <p:nvPicPr>
          <p:cNvPr id="9" name="Image 2" descr="preencoded.png">    </p:cNvPr>
          <p:cNvPicPr>
            <a:picLocks noChangeAspect="1"/>
          </p:cNvPicPr>
          <p:nvPr/>
        </p:nvPicPr>
        <p:blipFill>
          <a:blip r:embed="rId3"/>
          <a:stretch>
            <a:fillRect/>
          </a:stretch>
        </p:blipFill>
        <p:spPr>
          <a:xfrm>
            <a:off x="764858" y="4376738"/>
            <a:ext cx="6550343" cy="874038"/>
          </a:xfrm>
          <a:prstGeom prst="rect">
            <a:avLst/>
          </a:prstGeom>
        </p:spPr>
      </p:pic>
      <p:sp>
        <p:nvSpPr>
          <p:cNvPr id="10" name="Text 5"/>
          <p:cNvSpPr/>
          <p:nvPr/>
        </p:nvSpPr>
        <p:spPr>
          <a:xfrm>
            <a:off x="983337" y="5461278"/>
            <a:ext cx="3463290" cy="341352"/>
          </a:xfrm>
          <a:prstGeom prst="rect">
            <a:avLst/>
          </a:prstGeom>
          <a:noFill/>
          <a:ln/>
        </p:spPr>
        <p:txBody>
          <a:bodyPr wrap="none" lIns="0" tIns="0" rIns="0" bIns="0" rtlCol="0" anchor="t"/>
          <a:lstStyle/>
          <a:p>
            <a:pPr algn="l" indent="0" marL="0">
              <a:lnSpc>
                <a:spcPts val="2650"/>
              </a:lnSpc>
              <a:buNone/>
            </a:pPr>
            <a:r>
              <a:rPr lang="en-US" sz="2150" dirty="0">
                <a:solidFill>
                  <a:srgbClr val="404155"/>
                </a:solidFill>
                <a:latin typeface="Corben" pitchFamily="34" charset="0"/>
                <a:ea typeface="Corben" pitchFamily="34" charset="-122"/>
                <a:cs typeface="Corben" pitchFamily="34" charset="-120"/>
              </a:rPr>
              <a:t>90 Days: Archive to Glacier</a:t>
            </a:r>
            <a:endParaRPr lang="en-US" sz="2150" dirty="0"/>
          </a:p>
        </p:txBody>
      </p:sp>
      <p:sp>
        <p:nvSpPr>
          <p:cNvPr id="11" name="Text 6"/>
          <p:cNvSpPr/>
          <p:nvPr/>
        </p:nvSpPr>
        <p:spPr>
          <a:xfrm>
            <a:off x="983337" y="5928836"/>
            <a:ext cx="6113383" cy="343138"/>
          </a:xfrm>
          <a:prstGeom prst="rect">
            <a:avLst/>
          </a:prstGeom>
          <a:noFill/>
          <a:ln/>
        </p:spPr>
        <p:txBody>
          <a:bodyPr wrap="none" lIns="0" tIns="0" rIns="0" bIns="0" rtlCol="0" anchor="t"/>
          <a:lstStyle/>
          <a:p>
            <a:pPr algn="l" indent="0" marL="0">
              <a:lnSpc>
                <a:spcPts val="2700"/>
              </a:lnSpc>
              <a:buNone/>
            </a:pPr>
            <a:r>
              <a:rPr lang="en-US" sz="1700" dirty="0">
                <a:solidFill>
                  <a:srgbClr val="404155"/>
                </a:solidFill>
                <a:latin typeface="Nobile" pitchFamily="34" charset="0"/>
                <a:ea typeface="Nobile" pitchFamily="34" charset="-122"/>
                <a:cs typeface="Nobile" pitchFamily="34" charset="-120"/>
              </a:rPr>
              <a:t>Automated archival for long-term retention at lowest cost</a:t>
            </a:r>
            <a:endParaRPr lang="en-US" sz="1700" dirty="0"/>
          </a:p>
        </p:txBody>
      </p:sp>
      <p:pic>
        <p:nvPicPr>
          <p:cNvPr id="12" name="Image 3" descr="preencoded.png">    </p:cNvPr>
          <p:cNvPicPr>
            <a:picLocks noChangeAspect="1"/>
          </p:cNvPicPr>
          <p:nvPr/>
        </p:nvPicPr>
        <p:blipFill>
          <a:blip r:embed="rId4"/>
          <a:stretch>
            <a:fillRect/>
          </a:stretch>
        </p:blipFill>
        <p:spPr>
          <a:xfrm>
            <a:off x="7315200" y="4376738"/>
            <a:ext cx="6550343" cy="874038"/>
          </a:xfrm>
          <a:prstGeom prst="rect">
            <a:avLst/>
          </a:prstGeom>
        </p:spPr>
      </p:pic>
      <p:sp>
        <p:nvSpPr>
          <p:cNvPr id="13" name="Text 7"/>
          <p:cNvSpPr/>
          <p:nvPr/>
        </p:nvSpPr>
        <p:spPr>
          <a:xfrm>
            <a:off x="7533680" y="5461278"/>
            <a:ext cx="2731532" cy="341352"/>
          </a:xfrm>
          <a:prstGeom prst="rect">
            <a:avLst/>
          </a:prstGeom>
          <a:noFill/>
          <a:ln/>
        </p:spPr>
        <p:txBody>
          <a:bodyPr wrap="none" lIns="0" tIns="0" rIns="0" bIns="0" rtlCol="0" anchor="t"/>
          <a:lstStyle/>
          <a:p>
            <a:pPr algn="l" indent="0" marL="0">
              <a:lnSpc>
                <a:spcPts val="2650"/>
              </a:lnSpc>
              <a:buNone/>
            </a:pPr>
            <a:r>
              <a:rPr lang="en-US" sz="2150" dirty="0">
                <a:solidFill>
                  <a:srgbClr val="404155"/>
                </a:solidFill>
                <a:latin typeface="Corben" pitchFamily="34" charset="0"/>
                <a:ea typeface="Corben" pitchFamily="34" charset="-122"/>
                <a:cs typeface="Corben" pitchFamily="34" charset="-120"/>
              </a:rPr>
              <a:t>365 Days: Delete</a:t>
            </a:r>
            <a:endParaRPr lang="en-US" sz="2150" dirty="0"/>
          </a:p>
        </p:txBody>
      </p:sp>
      <p:sp>
        <p:nvSpPr>
          <p:cNvPr id="14" name="Text 8"/>
          <p:cNvSpPr/>
          <p:nvPr/>
        </p:nvSpPr>
        <p:spPr>
          <a:xfrm>
            <a:off x="7533680" y="5928836"/>
            <a:ext cx="6113383" cy="343138"/>
          </a:xfrm>
          <a:prstGeom prst="rect">
            <a:avLst/>
          </a:prstGeom>
          <a:noFill/>
          <a:ln/>
        </p:spPr>
        <p:txBody>
          <a:bodyPr wrap="none" lIns="0" tIns="0" rIns="0" bIns="0" rtlCol="0" anchor="t"/>
          <a:lstStyle/>
          <a:p>
            <a:pPr algn="l" indent="0" marL="0">
              <a:lnSpc>
                <a:spcPts val="2700"/>
              </a:lnSpc>
              <a:buNone/>
            </a:pPr>
            <a:r>
              <a:rPr lang="en-US" sz="1700" dirty="0">
                <a:solidFill>
                  <a:srgbClr val="404155"/>
                </a:solidFill>
                <a:latin typeface="Nobile" pitchFamily="34" charset="0"/>
                <a:ea typeface="Nobile" pitchFamily="34" charset="-122"/>
                <a:cs typeface="Nobile" pitchFamily="34" charset="-120"/>
              </a:rPr>
              <a:t>Automatically remove objects after one year to save costs</a:t>
            </a:r>
            <a:endParaRPr lang="en-US" sz="1700" dirty="0"/>
          </a:p>
        </p:txBody>
      </p:sp>
      <p:sp>
        <p:nvSpPr>
          <p:cNvPr id="15" name="Text 9"/>
          <p:cNvSpPr/>
          <p:nvPr/>
        </p:nvSpPr>
        <p:spPr>
          <a:xfrm>
            <a:off x="764858" y="6727269"/>
            <a:ext cx="13100685" cy="686276"/>
          </a:xfrm>
          <a:prstGeom prst="rect">
            <a:avLst/>
          </a:prstGeom>
          <a:noFill/>
          <a:ln/>
        </p:spPr>
        <p:txBody>
          <a:bodyPr wrap="square" lIns="0" tIns="0" rIns="0" bIns="0" rtlCol="0" anchor="t"/>
          <a:lstStyle/>
          <a:p>
            <a:pPr algn="l" indent="0" marL="0">
              <a:lnSpc>
                <a:spcPts val="2700"/>
              </a:lnSpc>
              <a:buNone/>
            </a:pPr>
            <a:r>
              <a:rPr lang="en-US" sz="1700" dirty="0">
                <a:solidFill>
                  <a:srgbClr val="404155"/>
                </a:solidFill>
                <a:latin typeface="Nobile" pitchFamily="34" charset="0"/>
                <a:ea typeface="Nobile" pitchFamily="34" charset="-122"/>
                <a:cs typeface="Nobile" pitchFamily="34" charset="-120"/>
              </a:rPr>
              <a:t>Lifecycle policies automate storage management, reducing costs without manual intervention. Set rules once and S3 handles transitions automatically.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137416" y="1241822"/>
            <a:ext cx="4624626" cy="378381"/>
          </a:xfrm>
          <a:prstGeom prst="rect">
            <a:avLst/>
          </a:prstGeom>
          <a:noFill/>
          <a:ln/>
        </p:spPr>
        <p:txBody>
          <a:bodyPr wrap="none" lIns="0" tIns="0" rIns="0" bIns="0" rtlCol="0" anchor="t"/>
          <a:lstStyle/>
          <a:p>
            <a:pPr algn="l" indent="0" marL="0">
              <a:lnSpc>
                <a:spcPts val="2950"/>
              </a:lnSpc>
              <a:buNone/>
            </a:pPr>
            <a:r>
              <a:rPr lang="en-US" sz="2350" dirty="0">
                <a:solidFill>
                  <a:srgbClr val="1B1B27"/>
                </a:solidFill>
                <a:latin typeface="Corben" pitchFamily="34" charset="0"/>
                <a:ea typeface="Corben" pitchFamily="34" charset="-122"/>
                <a:cs typeface="Corben" pitchFamily="34" charset="-120"/>
              </a:rPr>
              <a:t>Hands-On Practice &amp; Next Steps</a:t>
            </a:r>
            <a:endParaRPr lang="en-US" sz="2350" dirty="0"/>
          </a:p>
        </p:txBody>
      </p:sp>
      <p:pic>
        <p:nvPicPr>
          <p:cNvPr id="3" name="Image 0" descr="preencoded.png">    </p:cNvPr>
          <p:cNvPicPr>
            <a:picLocks noChangeAspect="1"/>
          </p:cNvPicPr>
          <p:nvPr/>
        </p:nvPicPr>
        <p:blipFill>
          <a:blip r:embed="rId1"/>
          <a:stretch>
            <a:fillRect/>
          </a:stretch>
        </p:blipFill>
        <p:spPr>
          <a:xfrm>
            <a:off x="3137416" y="2842974"/>
            <a:ext cx="5327690" cy="3018949"/>
          </a:xfrm>
          <a:prstGeom prst="rect">
            <a:avLst/>
          </a:prstGeom>
        </p:spPr>
      </p:pic>
      <p:sp>
        <p:nvSpPr>
          <p:cNvPr id="4" name="Text 1"/>
          <p:cNvSpPr/>
          <p:nvPr/>
        </p:nvSpPr>
        <p:spPr>
          <a:xfrm>
            <a:off x="8768001" y="1781651"/>
            <a:ext cx="1853922" cy="189071"/>
          </a:xfrm>
          <a:prstGeom prst="rect">
            <a:avLst/>
          </a:prstGeom>
          <a:noFill/>
          <a:ln/>
        </p:spPr>
        <p:txBody>
          <a:bodyPr wrap="none" lIns="0" tIns="0" rIns="0" bIns="0" rtlCol="0" anchor="t"/>
          <a:lstStyle/>
          <a:p>
            <a:pPr algn="l" indent="0" marL="0">
              <a:lnSpc>
                <a:spcPts val="1450"/>
              </a:lnSpc>
              <a:buNone/>
            </a:pPr>
            <a:r>
              <a:rPr lang="en-US" sz="1150" dirty="0">
                <a:solidFill>
                  <a:srgbClr val="1B1B27"/>
                </a:solidFill>
                <a:latin typeface="Corben" pitchFamily="34" charset="0"/>
                <a:ea typeface="Corben" pitchFamily="34" charset="-122"/>
                <a:cs typeface="Corben" pitchFamily="34" charset="-120"/>
              </a:rPr>
              <a:t>Lab Exercises to Complete</a:t>
            </a:r>
            <a:endParaRPr lang="en-US" sz="1150" dirty="0"/>
          </a:p>
        </p:txBody>
      </p:sp>
      <p:sp>
        <p:nvSpPr>
          <p:cNvPr id="5" name="Text 2"/>
          <p:cNvSpPr/>
          <p:nvPr/>
        </p:nvSpPr>
        <p:spPr>
          <a:xfrm>
            <a:off x="8768001" y="2043351"/>
            <a:ext cx="121087" cy="151328"/>
          </a:xfrm>
          <a:prstGeom prst="rect">
            <a:avLst/>
          </a:prstGeom>
          <a:noFill/>
          <a:ln/>
        </p:spPr>
        <p:txBody>
          <a:bodyPr wrap="none" lIns="0" tIns="0" rIns="0" bIns="0" rtlCol="0" anchor="t"/>
          <a:lstStyle/>
          <a:p>
            <a:pPr algn="l" indent="0" marL="0">
              <a:lnSpc>
                <a:spcPts val="1150"/>
              </a:lnSpc>
              <a:buNone/>
            </a:pPr>
            <a:r>
              <a:rPr lang="en-US" sz="950" dirty="0">
                <a:solidFill>
                  <a:srgbClr val="404155"/>
                </a:solidFill>
                <a:latin typeface="Corben Light" pitchFamily="34" charset="0"/>
                <a:ea typeface="Corben Light" pitchFamily="34" charset="-122"/>
                <a:cs typeface="Corben Light" pitchFamily="34" charset="-120"/>
              </a:rPr>
              <a:t>01</a:t>
            </a:r>
            <a:endParaRPr lang="en-US" sz="950" dirty="0"/>
          </a:p>
        </p:txBody>
      </p:sp>
      <p:sp>
        <p:nvSpPr>
          <p:cNvPr id="6" name="Shape 3"/>
          <p:cNvSpPr/>
          <p:nvPr/>
        </p:nvSpPr>
        <p:spPr>
          <a:xfrm>
            <a:off x="8768001" y="2233851"/>
            <a:ext cx="2732365" cy="15240"/>
          </a:xfrm>
          <a:prstGeom prst="rect">
            <a:avLst/>
          </a:prstGeom>
          <a:solidFill>
            <a:srgbClr val="4967E9"/>
          </a:solidFill>
          <a:ln/>
        </p:spPr>
      </p:sp>
      <p:sp>
        <p:nvSpPr>
          <p:cNvPr id="7" name="Text 4"/>
          <p:cNvSpPr/>
          <p:nvPr/>
        </p:nvSpPr>
        <p:spPr>
          <a:xfrm>
            <a:off x="8768001" y="2324814"/>
            <a:ext cx="1745933" cy="189071"/>
          </a:xfrm>
          <a:prstGeom prst="rect">
            <a:avLst/>
          </a:prstGeom>
          <a:noFill/>
          <a:ln/>
        </p:spPr>
        <p:txBody>
          <a:bodyPr wrap="none" lIns="0" tIns="0" rIns="0" bIns="0" rtlCol="0" anchor="t"/>
          <a:lstStyle/>
          <a:p>
            <a:pPr algn="l" indent="0" marL="0">
              <a:lnSpc>
                <a:spcPts val="1450"/>
              </a:lnSpc>
              <a:buNone/>
            </a:pPr>
            <a:r>
              <a:rPr lang="en-US" sz="1150" dirty="0">
                <a:solidFill>
                  <a:srgbClr val="404155"/>
                </a:solidFill>
                <a:latin typeface="Corben" pitchFamily="34" charset="0"/>
                <a:ea typeface="Corben" pitchFamily="34" charset="-122"/>
                <a:cs typeface="Corben" pitchFamily="34" charset="-120"/>
              </a:rPr>
              <a:t>Create Your First Bucket</a:t>
            </a:r>
            <a:endParaRPr lang="en-US" sz="1150" dirty="0"/>
          </a:p>
        </p:txBody>
      </p:sp>
      <p:sp>
        <p:nvSpPr>
          <p:cNvPr id="8" name="Text 5"/>
          <p:cNvSpPr/>
          <p:nvPr/>
        </p:nvSpPr>
        <p:spPr>
          <a:xfrm>
            <a:off x="8768001" y="2578418"/>
            <a:ext cx="2732365" cy="296942"/>
          </a:xfrm>
          <a:prstGeom prst="rect">
            <a:avLst/>
          </a:prstGeom>
          <a:noFill/>
          <a:ln/>
        </p:spPr>
        <p:txBody>
          <a:bodyPr wrap="square" lIns="0" tIns="0" rIns="0" bIns="0" rtlCol="0" anchor="t"/>
          <a:lstStyle/>
          <a:p>
            <a:pPr algn="l" indent="0" marL="0">
              <a:lnSpc>
                <a:spcPts val="1150"/>
              </a:lnSpc>
              <a:buNone/>
            </a:pPr>
            <a:r>
              <a:rPr lang="en-US" sz="950" dirty="0">
                <a:solidFill>
                  <a:srgbClr val="404155"/>
                </a:solidFill>
                <a:latin typeface="Nobile" pitchFamily="34" charset="0"/>
                <a:ea typeface="Nobile" pitchFamily="34" charset="-122"/>
                <a:cs typeface="Nobile" pitchFamily="34" charset="-120"/>
              </a:rPr>
              <a:t>Practice bucket naming, region selection, and initial configuration in the AWS Console</a:t>
            </a:r>
            <a:endParaRPr lang="en-US" sz="950" dirty="0"/>
          </a:p>
        </p:txBody>
      </p:sp>
      <p:sp>
        <p:nvSpPr>
          <p:cNvPr id="9" name="Text 6"/>
          <p:cNvSpPr/>
          <p:nvPr/>
        </p:nvSpPr>
        <p:spPr>
          <a:xfrm>
            <a:off x="8768001" y="3030617"/>
            <a:ext cx="121087" cy="151328"/>
          </a:xfrm>
          <a:prstGeom prst="rect">
            <a:avLst/>
          </a:prstGeom>
          <a:noFill/>
          <a:ln/>
        </p:spPr>
        <p:txBody>
          <a:bodyPr wrap="none" lIns="0" tIns="0" rIns="0" bIns="0" rtlCol="0" anchor="t"/>
          <a:lstStyle/>
          <a:p>
            <a:pPr algn="l" indent="0" marL="0">
              <a:lnSpc>
                <a:spcPts val="1150"/>
              </a:lnSpc>
              <a:buNone/>
            </a:pPr>
            <a:r>
              <a:rPr lang="en-US" sz="950" dirty="0">
                <a:solidFill>
                  <a:srgbClr val="404155"/>
                </a:solidFill>
                <a:latin typeface="Corben Light" pitchFamily="34" charset="0"/>
                <a:ea typeface="Corben Light" pitchFamily="34" charset="-122"/>
                <a:cs typeface="Corben Light" pitchFamily="34" charset="-120"/>
              </a:rPr>
              <a:t>02</a:t>
            </a:r>
            <a:endParaRPr lang="en-US" sz="950" dirty="0"/>
          </a:p>
        </p:txBody>
      </p:sp>
      <p:sp>
        <p:nvSpPr>
          <p:cNvPr id="10" name="Shape 7"/>
          <p:cNvSpPr/>
          <p:nvPr/>
        </p:nvSpPr>
        <p:spPr>
          <a:xfrm>
            <a:off x="8768001" y="3221117"/>
            <a:ext cx="2732365" cy="15240"/>
          </a:xfrm>
          <a:prstGeom prst="rect">
            <a:avLst/>
          </a:prstGeom>
          <a:solidFill>
            <a:srgbClr val="4967E9"/>
          </a:solidFill>
          <a:ln/>
        </p:spPr>
      </p:sp>
      <p:sp>
        <p:nvSpPr>
          <p:cNvPr id="11" name="Text 8"/>
          <p:cNvSpPr/>
          <p:nvPr/>
        </p:nvSpPr>
        <p:spPr>
          <a:xfrm>
            <a:off x="8768001" y="3312081"/>
            <a:ext cx="1920002" cy="189071"/>
          </a:xfrm>
          <a:prstGeom prst="rect">
            <a:avLst/>
          </a:prstGeom>
          <a:noFill/>
          <a:ln/>
        </p:spPr>
        <p:txBody>
          <a:bodyPr wrap="none" lIns="0" tIns="0" rIns="0" bIns="0" rtlCol="0" anchor="t"/>
          <a:lstStyle/>
          <a:p>
            <a:pPr algn="l" indent="0" marL="0">
              <a:lnSpc>
                <a:spcPts val="1450"/>
              </a:lnSpc>
              <a:buNone/>
            </a:pPr>
            <a:r>
              <a:rPr lang="en-US" sz="1150" dirty="0">
                <a:solidFill>
                  <a:srgbClr val="404155"/>
                </a:solidFill>
                <a:latin typeface="Corben" pitchFamily="34" charset="0"/>
                <a:ea typeface="Corben" pitchFamily="34" charset="-122"/>
                <a:cs typeface="Corben" pitchFamily="34" charset="-120"/>
              </a:rPr>
              <a:t>Upload &amp; Organize Objects</a:t>
            </a:r>
            <a:endParaRPr lang="en-US" sz="1150" dirty="0"/>
          </a:p>
        </p:txBody>
      </p:sp>
      <p:sp>
        <p:nvSpPr>
          <p:cNvPr id="12" name="Text 9"/>
          <p:cNvSpPr/>
          <p:nvPr/>
        </p:nvSpPr>
        <p:spPr>
          <a:xfrm>
            <a:off x="8768001" y="3565684"/>
            <a:ext cx="2732365" cy="296942"/>
          </a:xfrm>
          <a:prstGeom prst="rect">
            <a:avLst/>
          </a:prstGeom>
          <a:noFill/>
          <a:ln/>
        </p:spPr>
        <p:txBody>
          <a:bodyPr wrap="square" lIns="0" tIns="0" rIns="0" bIns="0" rtlCol="0" anchor="t"/>
          <a:lstStyle/>
          <a:p>
            <a:pPr algn="l" indent="0" marL="0">
              <a:lnSpc>
                <a:spcPts val="1150"/>
              </a:lnSpc>
              <a:buNone/>
            </a:pPr>
            <a:r>
              <a:rPr lang="en-US" sz="950" dirty="0">
                <a:solidFill>
                  <a:srgbClr val="404155"/>
                </a:solidFill>
                <a:latin typeface="Nobile" pitchFamily="34" charset="0"/>
                <a:ea typeface="Nobile" pitchFamily="34" charset="-122"/>
                <a:cs typeface="Nobile" pitchFamily="34" charset="-120"/>
              </a:rPr>
              <a:t>Upload files, create folder structures, and explore object metadata and properties</a:t>
            </a:r>
            <a:endParaRPr lang="en-US" sz="950" dirty="0"/>
          </a:p>
        </p:txBody>
      </p:sp>
      <p:sp>
        <p:nvSpPr>
          <p:cNvPr id="13" name="Text 10"/>
          <p:cNvSpPr/>
          <p:nvPr/>
        </p:nvSpPr>
        <p:spPr>
          <a:xfrm>
            <a:off x="8768001" y="4017883"/>
            <a:ext cx="121087" cy="151328"/>
          </a:xfrm>
          <a:prstGeom prst="rect">
            <a:avLst/>
          </a:prstGeom>
          <a:noFill/>
          <a:ln/>
        </p:spPr>
        <p:txBody>
          <a:bodyPr wrap="none" lIns="0" tIns="0" rIns="0" bIns="0" rtlCol="0" anchor="t"/>
          <a:lstStyle/>
          <a:p>
            <a:pPr algn="l" indent="0" marL="0">
              <a:lnSpc>
                <a:spcPts val="1150"/>
              </a:lnSpc>
              <a:buNone/>
            </a:pPr>
            <a:r>
              <a:rPr lang="en-US" sz="950" dirty="0">
                <a:solidFill>
                  <a:srgbClr val="404155"/>
                </a:solidFill>
                <a:latin typeface="Corben Light" pitchFamily="34" charset="0"/>
                <a:ea typeface="Corben Light" pitchFamily="34" charset="-122"/>
                <a:cs typeface="Corben Light" pitchFamily="34" charset="-120"/>
              </a:rPr>
              <a:t>03</a:t>
            </a:r>
            <a:endParaRPr lang="en-US" sz="950" dirty="0"/>
          </a:p>
        </p:txBody>
      </p:sp>
      <p:sp>
        <p:nvSpPr>
          <p:cNvPr id="14" name="Shape 11"/>
          <p:cNvSpPr/>
          <p:nvPr/>
        </p:nvSpPr>
        <p:spPr>
          <a:xfrm>
            <a:off x="8768001" y="4208383"/>
            <a:ext cx="2732365" cy="15240"/>
          </a:xfrm>
          <a:prstGeom prst="rect">
            <a:avLst/>
          </a:prstGeom>
          <a:solidFill>
            <a:srgbClr val="4967E9"/>
          </a:solidFill>
          <a:ln/>
        </p:spPr>
      </p:sp>
      <p:sp>
        <p:nvSpPr>
          <p:cNvPr id="15" name="Text 12"/>
          <p:cNvSpPr/>
          <p:nvPr/>
        </p:nvSpPr>
        <p:spPr>
          <a:xfrm>
            <a:off x="8768001" y="4299347"/>
            <a:ext cx="1513642" cy="189071"/>
          </a:xfrm>
          <a:prstGeom prst="rect">
            <a:avLst/>
          </a:prstGeom>
          <a:noFill/>
          <a:ln/>
        </p:spPr>
        <p:txBody>
          <a:bodyPr wrap="none" lIns="0" tIns="0" rIns="0" bIns="0" rtlCol="0" anchor="t"/>
          <a:lstStyle/>
          <a:p>
            <a:pPr algn="l" indent="0" marL="0">
              <a:lnSpc>
                <a:spcPts val="1450"/>
              </a:lnSpc>
              <a:buNone/>
            </a:pPr>
            <a:r>
              <a:rPr lang="en-US" sz="1150" dirty="0">
                <a:solidFill>
                  <a:srgbClr val="404155"/>
                </a:solidFill>
                <a:latin typeface="Corben" pitchFamily="34" charset="0"/>
                <a:ea typeface="Corben" pitchFamily="34" charset="-122"/>
                <a:cs typeface="Corben" pitchFamily="34" charset="-120"/>
              </a:rPr>
              <a:t>Configure Security</a:t>
            </a:r>
            <a:endParaRPr lang="en-US" sz="1150" dirty="0"/>
          </a:p>
        </p:txBody>
      </p:sp>
      <p:sp>
        <p:nvSpPr>
          <p:cNvPr id="16" name="Text 13"/>
          <p:cNvSpPr/>
          <p:nvPr/>
        </p:nvSpPr>
        <p:spPr>
          <a:xfrm>
            <a:off x="8768001" y="4552950"/>
            <a:ext cx="2732365" cy="296942"/>
          </a:xfrm>
          <a:prstGeom prst="rect">
            <a:avLst/>
          </a:prstGeom>
          <a:noFill/>
          <a:ln/>
        </p:spPr>
        <p:txBody>
          <a:bodyPr wrap="square" lIns="0" tIns="0" rIns="0" bIns="0" rtlCol="0" anchor="t"/>
          <a:lstStyle/>
          <a:p>
            <a:pPr algn="l" indent="0" marL="0">
              <a:lnSpc>
                <a:spcPts val="1150"/>
              </a:lnSpc>
              <a:buNone/>
            </a:pPr>
            <a:r>
              <a:rPr lang="en-US" sz="950" dirty="0">
                <a:solidFill>
                  <a:srgbClr val="404155"/>
                </a:solidFill>
                <a:latin typeface="Nobile" pitchFamily="34" charset="0"/>
                <a:ea typeface="Nobile" pitchFamily="34" charset="-122"/>
                <a:cs typeface="Nobile" pitchFamily="34" charset="-120"/>
              </a:rPr>
              <a:t>Apply bucket policies, enable encryption, and test Block Public Access settings</a:t>
            </a:r>
            <a:endParaRPr lang="en-US" sz="950" dirty="0"/>
          </a:p>
        </p:txBody>
      </p:sp>
      <p:sp>
        <p:nvSpPr>
          <p:cNvPr id="17" name="Text 14"/>
          <p:cNvSpPr/>
          <p:nvPr/>
        </p:nvSpPr>
        <p:spPr>
          <a:xfrm>
            <a:off x="8768001" y="5005149"/>
            <a:ext cx="121087" cy="151328"/>
          </a:xfrm>
          <a:prstGeom prst="rect">
            <a:avLst/>
          </a:prstGeom>
          <a:noFill/>
          <a:ln/>
        </p:spPr>
        <p:txBody>
          <a:bodyPr wrap="none" lIns="0" tIns="0" rIns="0" bIns="0" rtlCol="0" anchor="t"/>
          <a:lstStyle/>
          <a:p>
            <a:pPr algn="l" indent="0" marL="0">
              <a:lnSpc>
                <a:spcPts val="1150"/>
              </a:lnSpc>
              <a:buNone/>
            </a:pPr>
            <a:r>
              <a:rPr lang="en-US" sz="950" dirty="0">
                <a:solidFill>
                  <a:srgbClr val="404155"/>
                </a:solidFill>
                <a:latin typeface="Corben Light" pitchFamily="34" charset="0"/>
                <a:ea typeface="Corben Light" pitchFamily="34" charset="-122"/>
                <a:cs typeface="Corben Light" pitchFamily="34" charset="-120"/>
              </a:rPr>
              <a:t>04</a:t>
            </a:r>
            <a:endParaRPr lang="en-US" sz="950" dirty="0"/>
          </a:p>
        </p:txBody>
      </p:sp>
      <p:sp>
        <p:nvSpPr>
          <p:cNvPr id="18" name="Shape 15"/>
          <p:cNvSpPr/>
          <p:nvPr/>
        </p:nvSpPr>
        <p:spPr>
          <a:xfrm>
            <a:off x="8768001" y="5195649"/>
            <a:ext cx="2732365" cy="15240"/>
          </a:xfrm>
          <a:prstGeom prst="rect">
            <a:avLst/>
          </a:prstGeom>
          <a:solidFill>
            <a:srgbClr val="4967E9"/>
          </a:solidFill>
          <a:ln/>
        </p:spPr>
      </p:sp>
      <p:sp>
        <p:nvSpPr>
          <p:cNvPr id="19" name="Text 16"/>
          <p:cNvSpPr/>
          <p:nvPr/>
        </p:nvSpPr>
        <p:spPr>
          <a:xfrm>
            <a:off x="8768001" y="5286613"/>
            <a:ext cx="1513642" cy="189071"/>
          </a:xfrm>
          <a:prstGeom prst="rect">
            <a:avLst/>
          </a:prstGeom>
          <a:noFill/>
          <a:ln/>
        </p:spPr>
        <p:txBody>
          <a:bodyPr wrap="none" lIns="0" tIns="0" rIns="0" bIns="0" rtlCol="0" anchor="t"/>
          <a:lstStyle/>
          <a:p>
            <a:pPr algn="l" indent="0" marL="0">
              <a:lnSpc>
                <a:spcPts val="1450"/>
              </a:lnSpc>
              <a:buNone/>
            </a:pPr>
            <a:r>
              <a:rPr lang="en-US" sz="1150" dirty="0">
                <a:solidFill>
                  <a:srgbClr val="404155"/>
                </a:solidFill>
                <a:latin typeface="Corben" pitchFamily="34" charset="0"/>
                <a:ea typeface="Corben" pitchFamily="34" charset="-122"/>
                <a:cs typeface="Corben" pitchFamily="34" charset="-120"/>
              </a:rPr>
              <a:t>Set Lifecycle Rules</a:t>
            </a:r>
            <a:endParaRPr lang="en-US" sz="1150" dirty="0"/>
          </a:p>
        </p:txBody>
      </p:sp>
      <p:sp>
        <p:nvSpPr>
          <p:cNvPr id="20" name="Text 17"/>
          <p:cNvSpPr/>
          <p:nvPr/>
        </p:nvSpPr>
        <p:spPr>
          <a:xfrm>
            <a:off x="8768001" y="5540216"/>
            <a:ext cx="2732365" cy="296942"/>
          </a:xfrm>
          <a:prstGeom prst="rect">
            <a:avLst/>
          </a:prstGeom>
          <a:noFill/>
          <a:ln/>
        </p:spPr>
        <p:txBody>
          <a:bodyPr wrap="square" lIns="0" tIns="0" rIns="0" bIns="0" rtlCol="0" anchor="t"/>
          <a:lstStyle/>
          <a:p>
            <a:pPr algn="l" indent="0" marL="0">
              <a:lnSpc>
                <a:spcPts val="1150"/>
              </a:lnSpc>
              <a:buNone/>
            </a:pPr>
            <a:r>
              <a:rPr lang="en-US" sz="950" dirty="0">
                <a:solidFill>
                  <a:srgbClr val="404155"/>
                </a:solidFill>
                <a:latin typeface="Nobile" pitchFamily="34" charset="0"/>
                <a:ea typeface="Nobile" pitchFamily="34" charset="-122"/>
                <a:cs typeface="Nobile" pitchFamily="34" charset="-120"/>
              </a:rPr>
              <a:t>Create automated transitions between storage classes and expiration policies</a:t>
            </a:r>
            <a:endParaRPr lang="en-US" sz="950" dirty="0"/>
          </a:p>
        </p:txBody>
      </p:sp>
      <p:sp>
        <p:nvSpPr>
          <p:cNvPr id="21" name="Text 18"/>
          <p:cNvSpPr/>
          <p:nvPr/>
        </p:nvSpPr>
        <p:spPr>
          <a:xfrm>
            <a:off x="8768001" y="5992416"/>
            <a:ext cx="121087" cy="151328"/>
          </a:xfrm>
          <a:prstGeom prst="rect">
            <a:avLst/>
          </a:prstGeom>
          <a:noFill/>
          <a:ln/>
        </p:spPr>
        <p:txBody>
          <a:bodyPr wrap="none" lIns="0" tIns="0" rIns="0" bIns="0" rtlCol="0" anchor="t"/>
          <a:lstStyle/>
          <a:p>
            <a:pPr algn="l" indent="0" marL="0">
              <a:lnSpc>
                <a:spcPts val="1150"/>
              </a:lnSpc>
              <a:buNone/>
            </a:pPr>
            <a:r>
              <a:rPr lang="en-US" sz="950" dirty="0">
                <a:solidFill>
                  <a:srgbClr val="404155"/>
                </a:solidFill>
                <a:latin typeface="Corben Light" pitchFamily="34" charset="0"/>
                <a:ea typeface="Corben Light" pitchFamily="34" charset="-122"/>
                <a:cs typeface="Corben Light" pitchFamily="34" charset="-120"/>
              </a:rPr>
              <a:t>05</a:t>
            </a:r>
            <a:endParaRPr lang="en-US" sz="950" dirty="0"/>
          </a:p>
        </p:txBody>
      </p:sp>
      <p:sp>
        <p:nvSpPr>
          <p:cNvPr id="22" name="Shape 19"/>
          <p:cNvSpPr/>
          <p:nvPr/>
        </p:nvSpPr>
        <p:spPr>
          <a:xfrm>
            <a:off x="8768001" y="6182916"/>
            <a:ext cx="2732365" cy="15240"/>
          </a:xfrm>
          <a:prstGeom prst="rect">
            <a:avLst/>
          </a:prstGeom>
          <a:solidFill>
            <a:srgbClr val="4967E9"/>
          </a:solidFill>
          <a:ln/>
        </p:spPr>
      </p:sp>
      <p:sp>
        <p:nvSpPr>
          <p:cNvPr id="23" name="Text 20"/>
          <p:cNvSpPr/>
          <p:nvPr/>
        </p:nvSpPr>
        <p:spPr>
          <a:xfrm>
            <a:off x="8768001" y="6273879"/>
            <a:ext cx="1513642" cy="189071"/>
          </a:xfrm>
          <a:prstGeom prst="rect">
            <a:avLst/>
          </a:prstGeom>
          <a:noFill/>
          <a:ln/>
        </p:spPr>
        <p:txBody>
          <a:bodyPr wrap="none" lIns="0" tIns="0" rIns="0" bIns="0" rtlCol="0" anchor="t"/>
          <a:lstStyle/>
          <a:p>
            <a:pPr algn="l" indent="0" marL="0">
              <a:lnSpc>
                <a:spcPts val="1450"/>
              </a:lnSpc>
              <a:buNone/>
            </a:pPr>
            <a:r>
              <a:rPr lang="en-US" sz="1150" dirty="0">
                <a:solidFill>
                  <a:srgbClr val="404155"/>
                </a:solidFill>
                <a:latin typeface="Corben" pitchFamily="34" charset="0"/>
                <a:ea typeface="Corben" pitchFamily="34" charset="-122"/>
                <a:cs typeface="Corben" pitchFamily="34" charset="-120"/>
              </a:rPr>
              <a:t>Enable Versioning</a:t>
            </a:r>
            <a:endParaRPr lang="en-US" sz="1150" dirty="0"/>
          </a:p>
        </p:txBody>
      </p:sp>
      <p:sp>
        <p:nvSpPr>
          <p:cNvPr id="24" name="Text 21"/>
          <p:cNvSpPr/>
          <p:nvPr/>
        </p:nvSpPr>
        <p:spPr>
          <a:xfrm>
            <a:off x="8768001" y="6527483"/>
            <a:ext cx="2732365" cy="296942"/>
          </a:xfrm>
          <a:prstGeom prst="rect">
            <a:avLst/>
          </a:prstGeom>
          <a:noFill/>
          <a:ln/>
        </p:spPr>
        <p:txBody>
          <a:bodyPr wrap="square" lIns="0" tIns="0" rIns="0" bIns="0" rtlCol="0" anchor="t"/>
          <a:lstStyle/>
          <a:p>
            <a:pPr algn="l" indent="0" marL="0">
              <a:lnSpc>
                <a:spcPts val="1150"/>
              </a:lnSpc>
              <a:buNone/>
            </a:pPr>
            <a:r>
              <a:rPr lang="en-US" sz="950" dirty="0">
                <a:solidFill>
                  <a:srgbClr val="404155"/>
                </a:solidFill>
                <a:latin typeface="Nobile" pitchFamily="34" charset="0"/>
                <a:ea typeface="Nobile" pitchFamily="34" charset="-122"/>
                <a:cs typeface="Nobile" pitchFamily="34" charset="-120"/>
              </a:rPr>
              <a:t>Turn on versioning and practice recovering previous object versions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2026-02-10T17:50:30Z</dcterms:created>
  <dcterms:modified xsi:type="dcterms:W3CDTF">2026-02-10T17:50:30Z</dcterms:modified>
</cp:coreProperties>
</file>
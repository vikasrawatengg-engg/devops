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rimson Pro Semi Bold" panose="020B0604020202020204" charset="0"/>
      <p:regular r:id="rId17"/>
    </p:embeddedFont>
    <p:embeddedFont>
      <p:font typeface="Heebo" pitchFamily="2" charset="-79"/>
      <p:regular r:id="rId18"/>
      <p:bold r:id="rId19"/>
    </p:embeddedFont>
    <p:embeddedFont>
      <p:font typeface="Inter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81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0C0ACA13-9456-DF50-7A74-AA8CD25B9052}"/>
              </a:ext>
            </a:extLst>
          </p:cNvPr>
          <p:cNvSpPr/>
          <p:nvPr/>
        </p:nvSpPr>
        <p:spPr>
          <a:xfrm>
            <a:off x="5956804" y="278519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IAM: Managing Cloud Security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189860-8D6E-8CBB-10F0-CFF31CFB990D}"/>
              </a:ext>
            </a:extLst>
          </p:cNvPr>
          <p:cNvSpPr/>
          <p:nvPr/>
        </p:nvSpPr>
        <p:spPr>
          <a:xfrm>
            <a:off x="793790" y="559125"/>
            <a:ext cx="2352199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B8DE1B-8130-F063-BED7-B331D307E9E7}"/>
              </a:ext>
            </a:extLst>
          </p:cNvPr>
          <p:cNvSpPr/>
          <p:nvPr/>
        </p:nvSpPr>
        <p:spPr>
          <a:xfrm>
            <a:off x="929878" y="627109"/>
            <a:ext cx="20800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8A1780-BFA1-DBFD-6384-998F5B68F973}"/>
              </a:ext>
            </a:extLst>
          </p:cNvPr>
          <p:cNvSpPr/>
          <p:nvPr/>
        </p:nvSpPr>
        <p:spPr>
          <a:xfrm>
            <a:off x="793790" y="1076094"/>
            <a:ext cx="70792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You'll Master Today</a:t>
            </a:r>
            <a:endParaRPr lang="en-US" sz="44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A220218-DA28-BD7C-0F3C-457F68B587BC}"/>
              </a:ext>
            </a:extLst>
          </p:cNvPr>
          <p:cNvSpPr/>
          <p:nvPr/>
        </p:nvSpPr>
        <p:spPr>
          <a:xfrm>
            <a:off x="793790" y="2125035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9ACD1AC-26AE-C66F-A8C9-F98227D56F1E}"/>
              </a:ext>
            </a:extLst>
          </p:cNvPr>
          <p:cNvSpPr/>
          <p:nvPr/>
        </p:nvSpPr>
        <p:spPr>
          <a:xfrm>
            <a:off x="1028224" y="235946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342D573-C03D-58D0-3B46-7F0D1BD35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546516"/>
            <a:ext cx="306110" cy="30611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A128E8BE-5519-9D32-00AA-0B0EE6E29C33}"/>
              </a:ext>
            </a:extLst>
          </p:cNvPr>
          <p:cNvSpPr/>
          <p:nvPr/>
        </p:nvSpPr>
        <p:spPr>
          <a:xfrm>
            <a:off x="1028224" y="3266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IAM Fundamentals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8244A57-5F29-587C-64C3-C73583B5C62E}"/>
              </a:ext>
            </a:extLst>
          </p:cNvPr>
          <p:cNvSpPr/>
          <p:nvPr/>
        </p:nvSpPr>
        <p:spPr>
          <a:xfrm>
            <a:off x="1028224" y="375714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what AWS IAM is and why it's critical for cloud security in production environments</a:t>
            </a:r>
            <a:endParaRPr lang="en-US" sz="17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E8B127C-9402-22A3-D1B7-E7D09EB82AD0}"/>
              </a:ext>
            </a:extLst>
          </p:cNvPr>
          <p:cNvSpPr/>
          <p:nvPr/>
        </p:nvSpPr>
        <p:spPr>
          <a:xfrm>
            <a:off x="7428548" y="2125035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063FD6D-35CF-1272-2941-CA6B95ABD0B4}"/>
              </a:ext>
            </a:extLst>
          </p:cNvPr>
          <p:cNvSpPr/>
          <p:nvPr/>
        </p:nvSpPr>
        <p:spPr>
          <a:xfrm>
            <a:off x="7662982" y="235946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7D2D4D3E-6B89-ED27-1982-0ECB7CA7E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50148" y="2546516"/>
            <a:ext cx="306110" cy="306110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F3CB378C-AAE1-2104-C317-E8FFA3CEAD49}"/>
              </a:ext>
            </a:extLst>
          </p:cNvPr>
          <p:cNvSpPr/>
          <p:nvPr/>
        </p:nvSpPr>
        <p:spPr>
          <a:xfrm>
            <a:off x="7662982" y="3266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Components</a:t>
            </a:r>
            <a:endParaRPr lang="en-US" sz="22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4DB29B5-D37C-84D0-A34D-940331B81A79}"/>
              </a:ext>
            </a:extLst>
          </p:cNvPr>
          <p:cNvSpPr/>
          <p:nvPr/>
        </p:nvSpPr>
        <p:spPr>
          <a:xfrm>
            <a:off x="7662982" y="375714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and manage users, groups, roles, and policies with confidence and precision</a:t>
            </a:r>
            <a:endParaRPr lang="en-US" sz="17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E8A2F44-8050-F856-C691-553E8E0E099C}"/>
              </a:ext>
            </a:extLst>
          </p:cNvPr>
          <p:cNvSpPr/>
          <p:nvPr/>
        </p:nvSpPr>
        <p:spPr>
          <a:xfrm>
            <a:off x="793790" y="4944197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1246CD2-01C2-D6EB-7BB8-AE6D2692D457}"/>
              </a:ext>
            </a:extLst>
          </p:cNvPr>
          <p:cNvSpPr/>
          <p:nvPr/>
        </p:nvSpPr>
        <p:spPr>
          <a:xfrm>
            <a:off x="1028224" y="51786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3DD93647-4BC7-79BC-B7FB-D406AA29F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5390" y="5365678"/>
            <a:ext cx="306110" cy="306110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69FBD9FF-1781-1FEE-3B6F-76F8528397FF}"/>
              </a:ext>
            </a:extLst>
          </p:cNvPr>
          <p:cNvSpPr/>
          <p:nvPr/>
        </p:nvSpPr>
        <p:spPr>
          <a:xfrm>
            <a:off x="1028224" y="6085887"/>
            <a:ext cx="44123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Authentication vs Authorisation</a:t>
            </a:r>
            <a:endParaRPr lang="en-US" sz="22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5B8AFE7F-2659-02CB-F708-97278F4D4B7C}"/>
              </a:ext>
            </a:extLst>
          </p:cNvPr>
          <p:cNvSpPr/>
          <p:nvPr/>
        </p:nvSpPr>
        <p:spPr>
          <a:xfrm>
            <a:off x="1028224" y="6576305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Distinguish between who you are and what you're allowed to do in AWS</a:t>
            </a:r>
            <a:endParaRPr lang="en-US" sz="175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AE2C2B50-6207-5C61-0115-CE8FC5D84C44}"/>
              </a:ext>
            </a:extLst>
          </p:cNvPr>
          <p:cNvSpPr/>
          <p:nvPr/>
        </p:nvSpPr>
        <p:spPr>
          <a:xfrm>
            <a:off x="7428548" y="4944197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51266D74-9977-EDB9-39E4-93886E37BA18}"/>
              </a:ext>
            </a:extLst>
          </p:cNvPr>
          <p:cNvSpPr/>
          <p:nvPr/>
        </p:nvSpPr>
        <p:spPr>
          <a:xfrm>
            <a:off x="7662982" y="51786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9D7C8E70-A023-E17B-CF84-38628EEBBD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50148" y="5365678"/>
            <a:ext cx="306110" cy="306110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B9D018AB-BB10-50A7-88E3-B49E44BD29C8}"/>
              </a:ext>
            </a:extLst>
          </p:cNvPr>
          <p:cNvSpPr/>
          <p:nvPr/>
        </p:nvSpPr>
        <p:spPr>
          <a:xfrm>
            <a:off x="7662982" y="6085887"/>
            <a:ext cx="32181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Industry Best Practices</a:t>
            </a:r>
            <a:endParaRPr lang="en-US" sz="2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4712B9A-BC8F-76CF-39EA-5C1F239477D4}"/>
              </a:ext>
            </a:extLst>
          </p:cNvPr>
          <p:cNvSpPr/>
          <p:nvPr/>
        </p:nvSpPr>
        <p:spPr>
          <a:xfrm>
            <a:off x="7662982" y="6576305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IAM best practices essential for interviews and real-world projects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43622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CB8EE1-58B7-A2BE-CDFD-BAA63BE9030B}"/>
              </a:ext>
            </a:extLst>
          </p:cNvPr>
          <p:cNvSpPr/>
          <p:nvPr/>
        </p:nvSpPr>
        <p:spPr>
          <a:xfrm>
            <a:off x="2651046" y="411480"/>
            <a:ext cx="5911215" cy="460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Shared Responsibility Model</a:t>
            </a:r>
            <a:endParaRPr lang="en-US" sz="29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FFB954E-F503-B7A7-9E67-5628A2522CD7}"/>
              </a:ext>
            </a:extLst>
          </p:cNvPr>
          <p:cNvSpPr/>
          <p:nvPr/>
        </p:nvSpPr>
        <p:spPr>
          <a:xfrm>
            <a:off x="9068514" y="1218128"/>
            <a:ext cx="3041094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Cloud Security Matters</a:t>
            </a:r>
            <a:endParaRPr lang="en-US" sz="17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C28DC04-D19D-ED3E-749E-CD6C0050E314}"/>
              </a:ext>
            </a:extLst>
          </p:cNvPr>
          <p:cNvSpPr/>
          <p:nvPr/>
        </p:nvSpPr>
        <p:spPr>
          <a:xfrm>
            <a:off x="9068514" y="1641991"/>
            <a:ext cx="4484132" cy="707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cloud computing, security is a shared responsibility between AWS and the customer. AWS secures the cloud infrastructure itself, whilst you secure what you put inside the cloud.</a:t>
            </a:r>
            <a:endParaRPr lang="en-US" sz="11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9A30CDC-9D53-2345-BA0A-7B28852319FD}"/>
              </a:ext>
            </a:extLst>
          </p:cNvPr>
          <p:cNvSpPr/>
          <p:nvPr/>
        </p:nvSpPr>
        <p:spPr>
          <a:xfrm>
            <a:off x="9289733" y="2515791"/>
            <a:ext cx="4262914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secures the cloud. You secure what's in the cloud.</a:t>
            </a:r>
            <a:endParaRPr lang="en-US" sz="11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A47A29F-9E39-5E8A-66D4-0CE6428BAD4B}"/>
              </a:ext>
            </a:extLst>
          </p:cNvPr>
          <p:cNvSpPr/>
          <p:nvPr/>
        </p:nvSpPr>
        <p:spPr>
          <a:xfrm>
            <a:off x="9068514" y="2515791"/>
            <a:ext cx="15240" cy="235982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216806C-F9C3-0E92-55FF-811BBC5E6D12}"/>
              </a:ext>
            </a:extLst>
          </p:cNvPr>
          <p:cNvSpPr/>
          <p:nvPr/>
        </p:nvSpPr>
        <p:spPr>
          <a:xfrm>
            <a:off x="2651046" y="6075283"/>
            <a:ext cx="4590336" cy="1742718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2866D26-1FA9-C0C4-7176-BE75B5E316E8}"/>
              </a:ext>
            </a:extLst>
          </p:cNvPr>
          <p:cNvSpPr/>
          <p:nvPr/>
        </p:nvSpPr>
        <p:spPr>
          <a:xfrm>
            <a:off x="2635806" y="6075283"/>
            <a:ext cx="60960" cy="1742718"/>
          </a:xfrm>
          <a:prstGeom prst="roundRect">
            <a:avLst>
              <a:gd name="adj" fmla="val 101612"/>
            </a:avLst>
          </a:prstGeom>
          <a:solidFill>
            <a:srgbClr val="4950BC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7F628D4-D5E6-A6D0-F0F9-CAE30325A97D}"/>
              </a:ext>
            </a:extLst>
          </p:cNvPr>
          <p:cNvSpPr/>
          <p:nvPr/>
        </p:nvSpPr>
        <p:spPr>
          <a:xfrm>
            <a:off x="2859405" y="6237923"/>
            <a:ext cx="184344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Responsibility</a:t>
            </a:r>
            <a:endParaRPr lang="en-US" sz="14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0CDB870-AC04-B429-8AF4-30ED32C51C66}"/>
              </a:ext>
            </a:extLst>
          </p:cNvPr>
          <p:cNvSpPr/>
          <p:nvPr/>
        </p:nvSpPr>
        <p:spPr>
          <a:xfrm>
            <a:off x="2859405" y="6556772"/>
            <a:ext cx="4219337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data centres</a:t>
            </a:r>
            <a:endParaRPr lang="en-US" sz="11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8590A50-8B42-F6EF-E2D3-9834751C83A5}"/>
              </a:ext>
            </a:extLst>
          </p:cNvPr>
          <p:cNvSpPr/>
          <p:nvPr/>
        </p:nvSpPr>
        <p:spPr>
          <a:xfrm>
            <a:off x="2859405" y="6844308"/>
            <a:ext cx="4219337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infrastructure</a:t>
            </a:r>
            <a:endParaRPr lang="en-US" sz="11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AA2E240-7E61-38DA-4C6E-E0F2BC2F0D06}"/>
              </a:ext>
            </a:extLst>
          </p:cNvPr>
          <p:cNvSpPr/>
          <p:nvPr/>
        </p:nvSpPr>
        <p:spPr>
          <a:xfrm>
            <a:off x="2859405" y="7131844"/>
            <a:ext cx="4219337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security</a:t>
            </a:r>
            <a:endParaRPr lang="en-US" sz="11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A8A9FDE-C577-FAD7-32BC-621D3D05B913}"/>
              </a:ext>
            </a:extLst>
          </p:cNvPr>
          <p:cNvSpPr/>
          <p:nvPr/>
        </p:nvSpPr>
        <p:spPr>
          <a:xfrm>
            <a:off x="7388781" y="6075283"/>
            <a:ext cx="4590455" cy="1742718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077380D-895A-78DF-3941-9CEC0FCC7287}"/>
              </a:ext>
            </a:extLst>
          </p:cNvPr>
          <p:cNvSpPr/>
          <p:nvPr/>
        </p:nvSpPr>
        <p:spPr>
          <a:xfrm>
            <a:off x="7373541" y="6075283"/>
            <a:ext cx="60960" cy="1742718"/>
          </a:xfrm>
          <a:prstGeom prst="roundRect">
            <a:avLst>
              <a:gd name="adj" fmla="val 101612"/>
            </a:avLst>
          </a:prstGeom>
          <a:solidFill>
            <a:srgbClr val="4950BC"/>
          </a:solidFill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B7B461C-3BBA-3A39-43B8-A58178DA335E}"/>
              </a:ext>
            </a:extLst>
          </p:cNvPr>
          <p:cNvSpPr/>
          <p:nvPr/>
        </p:nvSpPr>
        <p:spPr>
          <a:xfrm>
            <a:off x="7597140" y="6237923"/>
            <a:ext cx="220730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Responsibility</a:t>
            </a:r>
            <a:endParaRPr lang="en-US" sz="14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BD84701-90F9-5B87-686A-750C5518026E}"/>
              </a:ext>
            </a:extLst>
          </p:cNvPr>
          <p:cNvSpPr/>
          <p:nvPr/>
        </p:nvSpPr>
        <p:spPr>
          <a:xfrm>
            <a:off x="7597140" y="6556772"/>
            <a:ext cx="4219456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management</a:t>
            </a:r>
            <a:endParaRPr lang="en-US" sz="11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2524C26-9A9B-A119-1435-BD5C5542ABCE}"/>
              </a:ext>
            </a:extLst>
          </p:cNvPr>
          <p:cNvSpPr/>
          <p:nvPr/>
        </p:nvSpPr>
        <p:spPr>
          <a:xfrm>
            <a:off x="7597140" y="6844308"/>
            <a:ext cx="4219456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Permissions and policies</a:t>
            </a:r>
            <a:endParaRPr lang="en-US" sz="11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DD53AEA-5344-2EAA-C695-92119F031A4E}"/>
              </a:ext>
            </a:extLst>
          </p:cNvPr>
          <p:cNvSpPr/>
          <p:nvPr/>
        </p:nvSpPr>
        <p:spPr>
          <a:xfrm>
            <a:off x="7597140" y="7131844"/>
            <a:ext cx="4219456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 controls</a:t>
            </a:r>
            <a:endParaRPr lang="en-US" sz="11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14FD002-FB7E-0C26-4136-676DD1128642}"/>
              </a:ext>
            </a:extLst>
          </p:cNvPr>
          <p:cNvSpPr/>
          <p:nvPr/>
        </p:nvSpPr>
        <p:spPr>
          <a:xfrm>
            <a:off x="7597140" y="7419380"/>
            <a:ext cx="4219456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and application security</a:t>
            </a:r>
            <a:endParaRPr lang="en-US" sz="1150" dirty="0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A5E95F9A-F838-B9CE-CB4E-5D65508CE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806" y="1325248"/>
            <a:ext cx="5435322" cy="4045570"/>
          </a:xfrm>
          <a:prstGeom prst="rect">
            <a:avLst/>
          </a:prstGeom>
        </p:spPr>
      </p:pic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BD593B28-6BE4-DF81-D723-6C230BC12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514" y="2984485"/>
            <a:ext cx="4079319" cy="28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3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F126A1-A7B5-43CE-7B22-C1724F657B75}"/>
              </a:ext>
            </a:extLst>
          </p:cNvPr>
          <p:cNvSpPr/>
          <p:nvPr/>
        </p:nvSpPr>
        <p:spPr>
          <a:xfrm>
            <a:off x="691396" y="704374"/>
            <a:ext cx="1528286" cy="386358"/>
          </a:xfrm>
          <a:prstGeom prst="roundRect">
            <a:avLst>
              <a:gd name="adj" fmla="val 17181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76F16B2-2D61-369D-EAAA-D64727FA9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483" y="818555"/>
            <a:ext cx="157996" cy="15799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4E685B8-1317-E926-127D-65500FF8479E}"/>
              </a:ext>
            </a:extLst>
          </p:cNvPr>
          <p:cNvSpPr/>
          <p:nvPr/>
        </p:nvSpPr>
        <p:spPr>
          <a:xfrm>
            <a:off x="1054418" y="771168"/>
            <a:ext cx="103917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57B9B91-64F6-3DC1-2EF4-58A40EA11DDD}"/>
              </a:ext>
            </a:extLst>
          </p:cNvPr>
          <p:cNvSpPr/>
          <p:nvPr/>
        </p:nvSpPr>
        <p:spPr>
          <a:xfrm>
            <a:off x="691396" y="1169670"/>
            <a:ext cx="4938951" cy="617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AWS IAM?</a:t>
            </a:r>
            <a:endParaRPr lang="en-US" sz="3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A29E1B4-9C32-CC5D-F043-83F0C77A18D9}"/>
              </a:ext>
            </a:extLst>
          </p:cNvPr>
          <p:cNvSpPr/>
          <p:nvPr/>
        </p:nvSpPr>
        <p:spPr>
          <a:xfrm>
            <a:off x="691396" y="2083237"/>
            <a:ext cx="7761208" cy="947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Identity and Access Management (IAM) is a service that helps you manage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access what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your AWS environment. It's the security backbone of every AWS deployment.</a:t>
            </a:r>
            <a:endParaRPr lang="en-US" sz="15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606F177-6162-8A0C-4675-49B682470002}"/>
              </a:ext>
            </a:extLst>
          </p:cNvPr>
          <p:cNvSpPr/>
          <p:nvPr/>
        </p:nvSpPr>
        <p:spPr>
          <a:xfrm>
            <a:off x="691396" y="3253383"/>
            <a:ext cx="197525" cy="24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388961E-92F8-E077-924A-7AD9577BB7F6}"/>
              </a:ext>
            </a:extLst>
          </p:cNvPr>
          <p:cNvSpPr/>
          <p:nvPr/>
        </p:nvSpPr>
        <p:spPr>
          <a:xfrm>
            <a:off x="691396" y="3566160"/>
            <a:ext cx="776120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71F00EF-1A34-2192-8A8C-B5A246C22DC5}"/>
              </a:ext>
            </a:extLst>
          </p:cNvPr>
          <p:cNvSpPr/>
          <p:nvPr/>
        </p:nvSpPr>
        <p:spPr>
          <a:xfrm>
            <a:off x="691396" y="3710583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Authentication</a:t>
            </a:r>
            <a:endParaRPr lang="en-US" sz="1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05CF5B1-8F95-3D17-6D6F-13A0D93134A1}"/>
              </a:ext>
            </a:extLst>
          </p:cNvPr>
          <p:cNvSpPr/>
          <p:nvPr/>
        </p:nvSpPr>
        <p:spPr>
          <a:xfrm>
            <a:off x="691396" y="4137660"/>
            <a:ext cx="776120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Verifying identity — who are you?</a:t>
            </a:r>
            <a:endParaRPr lang="en-US" sz="15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9682C80-1534-C16B-529F-1C0911451182}"/>
              </a:ext>
            </a:extLst>
          </p:cNvPr>
          <p:cNvSpPr/>
          <p:nvPr/>
        </p:nvSpPr>
        <p:spPr>
          <a:xfrm>
            <a:off x="691396" y="4799290"/>
            <a:ext cx="197525" cy="24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EC99550-6202-4A85-CAB6-E990EB7E780E}"/>
              </a:ext>
            </a:extLst>
          </p:cNvPr>
          <p:cNvSpPr/>
          <p:nvPr/>
        </p:nvSpPr>
        <p:spPr>
          <a:xfrm>
            <a:off x="691396" y="5112068"/>
            <a:ext cx="776120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60EFD29-8009-54B4-B11B-1E8F8818FC6B}"/>
              </a:ext>
            </a:extLst>
          </p:cNvPr>
          <p:cNvSpPr/>
          <p:nvPr/>
        </p:nvSpPr>
        <p:spPr>
          <a:xfrm>
            <a:off x="691396" y="5256490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Authorisation</a:t>
            </a:r>
            <a:endParaRPr lang="en-US" sz="19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C623EDB-51B8-5766-0708-75E38843CEB1}"/>
              </a:ext>
            </a:extLst>
          </p:cNvPr>
          <p:cNvSpPr/>
          <p:nvPr/>
        </p:nvSpPr>
        <p:spPr>
          <a:xfrm>
            <a:off x="691396" y="5683568"/>
            <a:ext cx="776120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permissions — what are you allowed to do?</a:t>
            </a:r>
            <a:endParaRPr lang="en-US" sz="15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3336597-88B6-6316-61DC-7C049864497B}"/>
              </a:ext>
            </a:extLst>
          </p:cNvPr>
          <p:cNvSpPr/>
          <p:nvPr/>
        </p:nvSpPr>
        <p:spPr>
          <a:xfrm>
            <a:off x="691396" y="6369844"/>
            <a:ext cx="7761208" cy="1155263"/>
          </a:xfrm>
          <a:prstGeom prst="roundRect">
            <a:avLst>
              <a:gd name="adj" fmla="val 7182"/>
            </a:avLst>
          </a:prstGeom>
          <a:solidFill>
            <a:srgbClr val="C7C9EA"/>
          </a:solidFill>
          <a:ln/>
        </p:spPr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90204704-AAC6-2374-83F4-6C79D9CA3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21" y="6672382"/>
            <a:ext cx="246936" cy="197525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4A6F65E5-1571-BC40-C174-5D8FAA7ABC75}"/>
              </a:ext>
            </a:extLst>
          </p:cNvPr>
          <p:cNvSpPr/>
          <p:nvPr/>
        </p:nvSpPr>
        <p:spPr>
          <a:xfrm>
            <a:off x="1333381" y="6616660"/>
            <a:ext cx="6921698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Facts: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IAM is a global service (not region-specific), completely free of cost, and enabled by default in every AWS account.</a:t>
            </a:r>
            <a:endParaRPr lang="en-US" sz="15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5B95F94B-390F-24E1-6B6B-8E8DFCD87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2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FBC288-DE0A-CCF5-2330-690733B7AB60}"/>
              </a:ext>
            </a:extLst>
          </p:cNvPr>
          <p:cNvSpPr/>
          <p:nvPr/>
        </p:nvSpPr>
        <p:spPr>
          <a:xfrm>
            <a:off x="962382" y="552331"/>
            <a:ext cx="5539740" cy="62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IAM Components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F09CF0-CD41-B896-F48F-5D21FCB2A03C}"/>
              </a:ext>
            </a:extLst>
          </p:cNvPr>
          <p:cNvSpPr/>
          <p:nvPr/>
        </p:nvSpPr>
        <p:spPr>
          <a:xfrm>
            <a:off x="962382" y="1581745"/>
            <a:ext cx="12705636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these four elements is essential for managing AWS security effectively.</a:t>
            </a:r>
            <a:endParaRPr lang="en-US" sz="15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495B404-9F0E-CB68-B104-56D668FD8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82" y="2129076"/>
            <a:ext cx="2988112" cy="298811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99EEC2A5-B246-5EC1-80BC-30233892A397}"/>
              </a:ext>
            </a:extLst>
          </p:cNvPr>
          <p:cNvSpPr/>
          <p:nvPr/>
        </p:nvSpPr>
        <p:spPr>
          <a:xfrm>
            <a:off x="962382" y="5318046"/>
            <a:ext cx="2510909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IAM User</a:t>
            </a:r>
            <a:endParaRPr lang="en-US" sz="19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44C250C9-D72F-06FA-029E-79D5E2CE0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478" y="2129076"/>
            <a:ext cx="2988231" cy="2988231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D9519E6-5B9B-B196-8021-113B4111B0C4}"/>
              </a:ext>
            </a:extLst>
          </p:cNvPr>
          <p:cNvSpPr/>
          <p:nvPr/>
        </p:nvSpPr>
        <p:spPr>
          <a:xfrm>
            <a:off x="4201478" y="5318165"/>
            <a:ext cx="2510909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IAM Group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CC58A19-78EA-7231-860B-9395A6E99415}"/>
              </a:ext>
            </a:extLst>
          </p:cNvPr>
          <p:cNvSpPr/>
          <p:nvPr/>
        </p:nvSpPr>
        <p:spPr>
          <a:xfrm>
            <a:off x="4201478" y="5752505"/>
            <a:ext cx="2988231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collection of users who inherit the same permissions. Examples include AdminGroup, DeveloperGroup, and ReadOnlyGroup.</a:t>
            </a:r>
            <a:endParaRPr lang="en-US" sz="15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E313FBF4-FD2E-87C7-60CB-0B42066AD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692" y="2129076"/>
            <a:ext cx="2988112" cy="2988112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DEC9AA55-0EFE-43B4-C8EA-D7870475B69D}"/>
              </a:ext>
            </a:extLst>
          </p:cNvPr>
          <p:cNvSpPr/>
          <p:nvPr/>
        </p:nvSpPr>
        <p:spPr>
          <a:xfrm>
            <a:off x="7440692" y="5318046"/>
            <a:ext cx="2510909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IAM Policy</a:t>
            </a:r>
            <a:endParaRPr lang="en-US" sz="19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DD5C75C-0771-119C-F31A-2386D2C81C30}"/>
              </a:ext>
            </a:extLst>
          </p:cNvPr>
          <p:cNvSpPr/>
          <p:nvPr/>
        </p:nvSpPr>
        <p:spPr>
          <a:xfrm>
            <a:off x="7440692" y="5752386"/>
            <a:ext cx="2988112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JSON document defining permissions with Effect, Action, Resource, and optional Conditions.</a:t>
            </a:r>
            <a:endParaRPr lang="en-US" sz="15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08AC2B93-0889-B103-B510-962AC74B2B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9787" y="2129076"/>
            <a:ext cx="2988231" cy="2988231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F8FC6228-5A01-EA47-A827-68337A5860F2}"/>
              </a:ext>
            </a:extLst>
          </p:cNvPr>
          <p:cNvSpPr/>
          <p:nvPr/>
        </p:nvSpPr>
        <p:spPr>
          <a:xfrm>
            <a:off x="10679787" y="5318165"/>
            <a:ext cx="2510909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IAM Role</a:t>
            </a:r>
            <a:endParaRPr lang="en-US" sz="19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6C6922A-1EC5-2BFB-952B-B0ADE42EE168}"/>
              </a:ext>
            </a:extLst>
          </p:cNvPr>
          <p:cNvSpPr/>
          <p:nvPr/>
        </p:nvSpPr>
        <p:spPr>
          <a:xfrm>
            <a:off x="10679787" y="5752505"/>
            <a:ext cx="2988231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identity with permissions but no permanent credentials, used by AWS services like EC2, Lambda, and ECS.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300085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D138AF-412E-D972-3446-9D83962AA52B}"/>
              </a:ext>
            </a:extLst>
          </p:cNvPr>
          <p:cNvSpPr/>
          <p:nvPr/>
        </p:nvSpPr>
        <p:spPr>
          <a:xfrm>
            <a:off x="1656159" y="494228"/>
            <a:ext cx="2018586" cy="336113"/>
          </a:xfrm>
          <a:prstGeom prst="roundRect">
            <a:avLst>
              <a:gd name="adj" fmla="val 17888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8B55FCF-5B96-A291-3176-1A2661F62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3435" y="590669"/>
            <a:ext cx="143113" cy="14311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58E4F52-9CB5-A6AF-F95B-0C3453AB95B2}"/>
              </a:ext>
            </a:extLst>
          </p:cNvPr>
          <p:cNvSpPr/>
          <p:nvPr/>
        </p:nvSpPr>
        <p:spPr>
          <a:xfrm>
            <a:off x="1978104" y="547807"/>
            <a:ext cx="1589365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DEEP DIVE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FF793B4-4282-8918-D5D8-669963AB12E8}"/>
              </a:ext>
            </a:extLst>
          </p:cNvPr>
          <p:cNvSpPr/>
          <p:nvPr/>
        </p:nvSpPr>
        <p:spPr>
          <a:xfrm>
            <a:off x="1656159" y="901898"/>
            <a:ext cx="4474845" cy="559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IAM Policy Structure</a:t>
            </a:r>
            <a:endParaRPr lang="en-US" sz="3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791CB5-335A-A348-F0EA-2D7F82809F7F}"/>
              </a:ext>
            </a:extLst>
          </p:cNvPr>
          <p:cNvSpPr/>
          <p:nvPr/>
        </p:nvSpPr>
        <p:spPr>
          <a:xfrm>
            <a:off x="1656159" y="1908215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Anatomy of a Policy</a:t>
            </a:r>
            <a:endParaRPr lang="en-US" sz="2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49CEECD-8266-6962-7A7F-80E9EBF1F862}"/>
              </a:ext>
            </a:extLst>
          </p:cNvPr>
          <p:cNvSpPr/>
          <p:nvPr/>
        </p:nvSpPr>
        <p:spPr>
          <a:xfrm>
            <a:off x="1656159" y="2422446"/>
            <a:ext cx="4852987" cy="85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 are JSON documents that define permissions. Each element serves a specific purpose in determining access control.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8C1608B-B920-13E9-3D0B-AB0CB19C9C0D}"/>
              </a:ext>
            </a:extLst>
          </p:cNvPr>
          <p:cNvSpPr/>
          <p:nvPr/>
        </p:nvSpPr>
        <p:spPr>
          <a:xfrm>
            <a:off x="1656159" y="3577411"/>
            <a:ext cx="89416" cy="89416"/>
          </a:xfrm>
          <a:prstGeom prst="roundRect">
            <a:avLst>
              <a:gd name="adj" fmla="val 511318"/>
            </a:avLst>
          </a:prstGeom>
          <a:solidFill>
            <a:srgbClr val="4950BC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AB564-3249-111C-BFBA-60C04172C4DC}"/>
              </a:ext>
            </a:extLst>
          </p:cNvPr>
          <p:cNvSpPr/>
          <p:nvPr/>
        </p:nvSpPr>
        <p:spPr>
          <a:xfrm>
            <a:off x="1924407" y="3482340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Effect</a:t>
            </a:r>
            <a:endParaRPr lang="en-US" sz="17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7C81338-2B4D-52DC-EF36-72E35BD270E4}"/>
              </a:ext>
            </a:extLst>
          </p:cNvPr>
          <p:cNvSpPr/>
          <p:nvPr/>
        </p:nvSpPr>
        <p:spPr>
          <a:xfrm>
            <a:off x="1924407" y="3940731"/>
            <a:ext cx="458474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or Deny the action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8ABBF81-79D6-BEAB-D7E6-7349AECE3EBE}"/>
              </a:ext>
            </a:extLst>
          </p:cNvPr>
          <p:cNvSpPr/>
          <p:nvPr/>
        </p:nvSpPr>
        <p:spPr>
          <a:xfrm>
            <a:off x="1656159" y="4679811"/>
            <a:ext cx="89416" cy="89416"/>
          </a:xfrm>
          <a:prstGeom prst="roundRect">
            <a:avLst>
              <a:gd name="adj" fmla="val 511318"/>
            </a:avLst>
          </a:prstGeom>
          <a:solidFill>
            <a:srgbClr val="4950BC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EB0139B-7200-D205-411F-86B9ADC50C14}"/>
              </a:ext>
            </a:extLst>
          </p:cNvPr>
          <p:cNvSpPr/>
          <p:nvPr/>
        </p:nvSpPr>
        <p:spPr>
          <a:xfrm>
            <a:off x="1924407" y="4584740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</a:t>
            </a:r>
            <a:endParaRPr lang="en-US" sz="17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C7D1293-7FBB-4720-17F1-7BDD0A41EB10}"/>
              </a:ext>
            </a:extLst>
          </p:cNvPr>
          <p:cNvSpPr/>
          <p:nvPr/>
        </p:nvSpPr>
        <p:spPr>
          <a:xfrm>
            <a:off x="1924407" y="5043130"/>
            <a:ext cx="458474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AWS operation is permitted</a:t>
            </a:r>
            <a:endParaRPr lang="en-US" sz="14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1D0AEE3-8398-9B56-3445-0232A72F4739}"/>
              </a:ext>
            </a:extLst>
          </p:cNvPr>
          <p:cNvSpPr/>
          <p:nvPr/>
        </p:nvSpPr>
        <p:spPr>
          <a:xfrm>
            <a:off x="1656159" y="5782211"/>
            <a:ext cx="89416" cy="89416"/>
          </a:xfrm>
          <a:prstGeom prst="roundRect">
            <a:avLst>
              <a:gd name="adj" fmla="val 511318"/>
            </a:avLst>
          </a:prstGeom>
          <a:solidFill>
            <a:srgbClr val="4950BC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C146F64-9972-2D8B-BFE6-DA6922A7D977}"/>
              </a:ext>
            </a:extLst>
          </p:cNvPr>
          <p:cNvSpPr/>
          <p:nvPr/>
        </p:nvSpPr>
        <p:spPr>
          <a:xfrm>
            <a:off x="1924407" y="5687139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Resource</a:t>
            </a:r>
            <a:endParaRPr lang="en-US" sz="17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C24C20D-DEB5-0D76-5056-2A88BC6508CB}"/>
              </a:ext>
            </a:extLst>
          </p:cNvPr>
          <p:cNvSpPr/>
          <p:nvPr/>
        </p:nvSpPr>
        <p:spPr>
          <a:xfrm>
            <a:off x="1924407" y="6145530"/>
            <a:ext cx="458474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which AWS resource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93D3FD6B-4C84-A86F-E551-A3D49A4032F6}"/>
              </a:ext>
            </a:extLst>
          </p:cNvPr>
          <p:cNvSpPr/>
          <p:nvPr/>
        </p:nvSpPr>
        <p:spPr>
          <a:xfrm>
            <a:off x="1656159" y="6884610"/>
            <a:ext cx="89416" cy="89416"/>
          </a:xfrm>
          <a:prstGeom prst="roundRect">
            <a:avLst>
              <a:gd name="adj" fmla="val 511318"/>
            </a:avLst>
          </a:prstGeom>
          <a:solidFill>
            <a:srgbClr val="4950BC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D4AB368-9503-28F5-A075-F653D0E7AD71}"/>
              </a:ext>
            </a:extLst>
          </p:cNvPr>
          <p:cNvSpPr/>
          <p:nvPr/>
        </p:nvSpPr>
        <p:spPr>
          <a:xfrm>
            <a:off x="1924407" y="6789539"/>
            <a:ext cx="223670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Condition</a:t>
            </a:r>
            <a:endParaRPr lang="en-US" sz="17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660F540-AB9C-AE36-2A0D-FF85E2567616}"/>
              </a:ext>
            </a:extLst>
          </p:cNvPr>
          <p:cNvSpPr/>
          <p:nvPr/>
        </p:nvSpPr>
        <p:spPr>
          <a:xfrm>
            <a:off x="1924407" y="7247930"/>
            <a:ext cx="4584740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constraints (IP, MFA, time)</a:t>
            </a:r>
            <a:endParaRPr lang="en-US" sz="1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11AC584-60CD-3B3A-6D54-0E28029A1A25}"/>
              </a:ext>
            </a:extLst>
          </p:cNvPr>
          <p:cNvSpPr/>
          <p:nvPr/>
        </p:nvSpPr>
        <p:spPr>
          <a:xfrm>
            <a:off x="6953250" y="1908215"/>
            <a:ext cx="2684145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 Policy</a:t>
            </a:r>
            <a:endParaRPr lang="en-US" sz="21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DE83486-EBE8-0079-05B8-40A44F611DE2}"/>
              </a:ext>
            </a:extLst>
          </p:cNvPr>
          <p:cNvSpPr/>
          <p:nvPr/>
        </p:nvSpPr>
        <p:spPr>
          <a:xfrm>
            <a:off x="6953250" y="2444829"/>
            <a:ext cx="6028492" cy="3130629"/>
          </a:xfrm>
          <a:prstGeom prst="roundRect">
            <a:avLst>
              <a:gd name="adj" fmla="val 2401"/>
            </a:avLst>
          </a:prstGeom>
          <a:solidFill>
            <a:srgbClr val="F2F2F2"/>
          </a:solidFill>
          <a:ln/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867AC576-9D97-4DC2-DB28-89D96C426BAA}"/>
              </a:ext>
            </a:extLst>
          </p:cNvPr>
          <p:cNvSpPr/>
          <p:nvPr/>
        </p:nvSpPr>
        <p:spPr>
          <a:xfrm>
            <a:off x="6944320" y="2444829"/>
            <a:ext cx="6046351" cy="3130629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9F9CA71-B7E6-F615-FFB0-14FB9E4DBD0C}"/>
              </a:ext>
            </a:extLst>
          </p:cNvPr>
          <p:cNvSpPr/>
          <p:nvPr/>
        </p:nvSpPr>
        <p:spPr>
          <a:xfrm>
            <a:off x="7123152" y="2579013"/>
            <a:ext cx="5688687" cy="2862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"2012-10-17",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"Statement": [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"Effect": "Allow",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"s3:ListBucket",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"Resource": "*"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985DF53-D56B-3A21-7BA3-3F201C595F44}"/>
              </a:ext>
            </a:extLst>
          </p:cNvPr>
          <p:cNvSpPr/>
          <p:nvPr/>
        </p:nvSpPr>
        <p:spPr>
          <a:xfrm>
            <a:off x="6953250" y="5776674"/>
            <a:ext cx="6028492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policy grants permission to list all S3 buckets in the account.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66566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C5DDD7-D07F-D963-9985-8A8A45867FFF}"/>
              </a:ext>
            </a:extLst>
          </p:cNvPr>
          <p:cNvSpPr/>
          <p:nvPr/>
        </p:nvSpPr>
        <p:spPr>
          <a:xfrm>
            <a:off x="793790" y="1109186"/>
            <a:ext cx="79503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IAM Authentication Methods</a:t>
            </a:r>
            <a:endParaRPr lang="en-US" sz="44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645960-710D-A149-258F-28055DFEE2C5}"/>
              </a:ext>
            </a:extLst>
          </p:cNvPr>
          <p:cNvSpPr/>
          <p:nvPr/>
        </p:nvSpPr>
        <p:spPr>
          <a:xfrm>
            <a:off x="793790" y="2271593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31F79B3-9D93-A170-7EC6-ED7CDC3352A8}"/>
              </a:ext>
            </a:extLst>
          </p:cNvPr>
          <p:cNvSpPr/>
          <p:nvPr/>
        </p:nvSpPr>
        <p:spPr>
          <a:xfrm>
            <a:off x="801410" y="227921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4B66AA-7A39-9427-38E3-9BE327A66E09}"/>
              </a:ext>
            </a:extLst>
          </p:cNvPr>
          <p:cNvSpPr/>
          <p:nvPr/>
        </p:nvSpPr>
        <p:spPr>
          <a:xfrm>
            <a:off x="1028343" y="242292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17C7CE-DDB1-049B-872B-A80E17768BDF}"/>
              </a:ext>
            </a:extLst>
          </p:cNvPr>
          <p:cNvSpPr/>
          <p:nvPr/>
        </p:nvSpPr>
        <p:spPr>
          <a:xfrm>
            <a:off x="6243161" y="2422922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</a:t>
            </a:r>
            <a:endParaRPr lang="en-US" sz="17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08E811C-38E4-6AAD-D368-67125FA10E32}"/>
              </a:ext>
            </a:extLst>
          </p:cNvPr>
          <p:cNvSpPr/>
          <p:nvPr/>
        </p:nvSpPr>
        <p:spPr>
          <a:xfrm>
            <a:off x="801410" y="292953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C4D58FD-4F64-8E6C-C599-F708D45E7C2F}"/>
              </a:ext>
            </a:extLst>
          </p:cNvPr>
          <p:cNvSpPr/>
          <p:nvPr/>
        </p:nvSpPr>
        <p:spPr>
          <a:xfrm>
            <a:off x="1028343" y="3073241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08494B-6280-598C-BE08-0BD1F52B3411}"/>
              </a:ext>
            </a:extLst>
          </p:cNvPr>
          <p:cNvSpPr/>
          <p:nvPr/>
        </p:nvSpPr>
        <p:spPr>
          <a:xfrm>
            <a:off x="6243161" y="3073241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Management Console access</a:t>
            </a:r>
            <a:endParaRPr lang="en-US" sz="17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7C6050C-C6EE-0C4B-98D2-9133BC559D80}"/>
              </a:ext>
            </a:extLst>
          </p:cNvPr>
          <p:cNvSpPr/>
          <p:nvPr/>
        </p:nvSpPr>
        <p:spPr>
          <a:xfrm>
            <a:off x="801410" y="357985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DCEBC2F-9BDC-0CF2-BCF8-64A2FB257E44}"/>
              </a:ext>
            </a:extLst>
          </p:cNvPr>
          <p:cNvSpPr/>
          <p:nvPr/>
        </p:nvSpPr>
        <p:spPr>
          <a:xfrm>
            <a:off x="1028343" y="3723561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Keys</a:t>
            </a:r>
            <a:endParaRPr lang="en-US" sz="17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F9ECABB-E86D-7DDD-BDD9-6BF560CB941C}"/>
              </a:ext>
            </a:extLst>
          </p:cNvPr>
          <p:cNvSpPr/>
          <p:nvPr/>
        </p:nvSpPr>
        <p:spPr>
          <a:xfrm>
            <a:off x="6243161" y="3723561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CLI, SDK, and programmatic access</a:t>
            </a:r>
            <a:endParaRPr lang="en-US" sz="1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A69C4B-2E30-52D7-08F5-E911FAEB616C}"/>
              </a:ext>
            </a:extLst>
          </p:cNvPr>
          <p:cNvSpPr/>
          <p:nvPr/>
        </p:nvSpPr>
        <p:spPr>
          <a:xfrm>
            <a:off x="801410" y="423017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2B5443B-E436-2A2F-1B81-5A6BF7784EA7}"/>
              </a:ext>
            </a:extLst>
          </p:cNvPr>
          <p:cNvSpPr/>
          <p:nvPr/>
        </p:nvSpPr>
        <p:spPr>
          <a:xfrm>
            <a:off x="1028343" y="4373880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5679CDF-C428-C8CE-E872-623A42F2AF5D}"/>
              </a:ext>
            </a:extLst>
          </p:cNvPr>
          <p:cNvSpPr/>
          <p:nvPr/>
        </p:nvSpPr>
        <p:spPr>
          <a:xfrm>
            <a:off x="6243161" y="4373880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services and cross-account access</a:t>
            </a:r>
            <a:endParaRPr lang="en-US" sz="17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7549794-9741-DC61-0973-9CBB90BD9363}"/>
              </a:ext>
            </a:extLst>
          </p:cNvPr>
          <p:cNvSpPr/>
          <p:nvPr/>
        </p:nvSpPr>
        <p:spPr>
          <a:xfrm>
            <a:off x="801410" y="488049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7B499CB-614C-2FFE-2086-6528DE36C616}"/>
              </a:ext>
            </a:extLst>
          </p:cNvPr>
          <p:cNvSpPr/>
          <p:nvPr/>
        </p:nvSpPr>
        <p:spPr>
          <a:xfrm>
            <a:off x="1028343" y="5024199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</a:t>
            </a:r>
            <a:endParaRPr lang="en-US" sz="17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0A3DCC8-73BE-F0B5-104A-8775D5BEE2C2}"/>
              </a:ext>
            </a:extLst>
          </p:cNvPr>
          <p:cNvSpPr/>
          <p:nvPr/>
        </p:nvSpPr>
        <p:spPr>
          <a:xfrm>
            <a:off x="6243161" y="5024199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 security layer (highly recommended)</a:t>
            </a:r>
            <a:endParaRPr lang="en-US" sz="17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AF4F166-5924-B8F2-6478-63F70630B593}"/>
              </a:ext>
            </a:extLst>
          </p:cNvPr>
          <p:cNvSpPr/>
          <p:nvPr/>
        </p:nvSpPr>
        <p:spPr>
          <a:xfrm>
            <a:off x="793790" y="5793581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FA59CDF8-BCBF-1FC7-91D2-913CE13C5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6137672"/>
            <a:ext cx="283488" cy="226814"/>
          </a:xfrm>
          <a:prstGeom prst="rect">
            <a:avLst/>
          </a:prstGeom>
        </p:spPr>
      </p:pic>
      <p:sp>
        <p:nvSpPr>
          <p:cNvPr id="21" name="Text 18">
            <a:extLst>
              <a:ext uri="{FF2B5EF4-FFF2-40B4-BE49-F238E27FC236}">
                <a16:creationId xmlns:a16="http://schemas.microsoft.com/office/drawing/2014/main" id="{F5264FEB-5A0E-CA58-5647-8C215BCE3EE7}"/>
              </a:ext>
            </a:extLst>
          </p:cNvPr>
          <p:cNvSpPr/>
          <p:nvPr/>
        </p:nvSpPr>
        <p:spPr>
          <a:xfrm>
            <a:off x="1530906" y="6077069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Priority: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Multi-Factor Authentication (MFA) is highly recommended for root users and all administrative accounts to add an extra layer of protection.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847509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0C1E55-7EB3-4359-5234-629095F7AF85}"/>
              </a:ext>
            </a:extLst>
          </p:cNvPr>
          <p:cNvSpPr/>
          <p:nvPr/>
        </p:nvSpPr>
        <p:spPr>
          <a:xfrm>
            <a:off x="738426" y="580192"/>
            <a:ext cx="1269325" cy="396478"/>
          </a:xfrm>
          <a:prstGeom prst="roundRect">
            <a:avLst>
              <a:gd name="adj" fmla="val 17882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1A3397A-C470-056B-2E52-F0A2FD7D4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989" y="694015"/>
            <a:ext cx="168712" cy="16871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3C29011-6735-5656-E181-A4CAB8FC185E}"/>
              </a:ext>
            </a:extLst>
          </p:cNvPr>
          <p:cNvSpPr/>
          <p:nvPr/>
        </p:nvSpPr>
        <p:spPr>
          <a:xfrm>
            <a:off x="1117997" y="643414"/>
            <a:ext cx="763191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4146297-6A43-CFE5-F267-20586BCFE86B}"/>
              </a:ext>
            </a:extLst>
          </p:cNvPr>
          <p:cNvSpPr/>
          <p:nvPr/>
        </p:nvSpPr>
        <p:spPr>
          <a:xfrm>
            <a:off x="738426" y="1060966"/>
            <a:ext cx="7310199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Root User: Handle With Care</a:t>
            </a:r>
            <a:endParaRPr lang="en-US" sz="41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5B86D25-B17E-34BB-853A-52DF842E6791}"/>
              </a:ext>
            </a:extLst>
          </p:cNvPr>
          <p:cNvSpPr/>
          <p:nvPr/>
        </p:nvSpPr>
        <p:spPr>
          <a:xfrm>
            <a:off x="738426" y="2247781"/>
            <a:ext cx="3411260" cy="39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Root User Capabilities</a:t>
            </a:r>
            <a:endParaRPr lang="en-US" sz="24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088C124-D787-1A91-6CAF-2EFCFF4E6E04}"/>
              </a:ext>
            </a:extLst>
          </p:cNvPr>
          <p:cNvSpPr/>
          <p:nvPr/>
        </p:nvSpPr>
        <p:spPr>
          <a:xfrm>
            <a:off x="738426" y="2854285"/>
            <a:ext cx="6319361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root user has complete, unrestricted access to everything in your AWS account.</a:t>
            </a:r>
            <a:endParaRPr lang="en-US" sz="16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AA04BE3-65FF-ADFB-2D2B-B9DC094931E1}"/>
              </a:ext>
            </a:extLst>
          </p:cNvPr>
          <p:cNvSpPr/>
          <p:nvPr/>
        </p:nvSpPr>
        <p:spPr>
          <a:xfrm>
            <a:off x="738426" y="3766661"/>
            <a:ext cx="6319361" cy="2579846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95535EC-8616-EBD2-29BF-9D64C957DC21}"/>
              </a:ext>
            </a:extLst>
          </p:cNvPr>
          <p:cNvSpPr/>
          <p:nvPr/>
        </p:nvSpPr>
        <p:spPr>
          <a:xfrm>
            <a:off x="972264" y="4000500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Powers</a:t>
            </a:r>
            <a:endParaRPr lang="en-US" sz="20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5325ADE-DBD9-6582-0181-F7E4CAF1B164}"/>
              </a:ext>
            </a:extLst>
          </p:cNvPr>
          <p:cNvSpPr/>
          <p:nvPr/>
        </p:nvSpPr>
        <p:spPr>
          <a:xfrm>
            <a:off x="972264" y="4541044"/>
            <a:ext cx="585168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AWS account</a:t>
            </a:r>
            <a:endParaRPr lang="en-US" sz="16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D1A2547-BA6E-6036-B0B2-A6B71151CF40}"/>
              </a:ext>
            </a:extLst>
          </p:cNvPr>
          <p:cNvSpPr/>
          <p:nvPr/>
        </p:nvSpPr>
        <p:spPr>
          <a:xfrm>
            <a:off x="972264" y="4952405"/>
            <a:ext cx="585168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billing settings</a:t>
            </a:r>
            <a:endParaRPr lang="en-US" sz="16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6E91524-7F78-63CB-B981-0AB265CC82B9}"/>
              </a:ext>
            </a:extLst>
          </p:cNvPr>
          <p:cNvSpPr/>
          <p:nvPr/>
        </p:nvSpPr>
        <p:spPr>
          <a:xfrm>
            <a:off x="972264" y="5363766"/>
            <a:ext cx="585168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and manage MFA</a:t>
            </a:r>
            <a:endParaRPr lang="en-US" sz="16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58D36E7-7FBE-F550-06FD-10D04381F22B}"/>
              </a:ext>
            </a:extLst>
          </p:cNvPr>
          <p:cNvSpPr/>
          <p:nvPr/>
        </p:nvSpPr>
        <p:spPr>
          <a:xfrm>
            <a:off x="972264" y="5775127"/>
            <a:ext cx="585168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all services and resources</a:t>
            </a:r>
            <a:endParaRPr lang="en-US" sz="16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81D304C-9F16-1D84-E84D-23FA380BD5A3}"/>
              </a:ext>
            </a:extLst>
          </p:cNvPr>
          <p:cNvSpPr/>
          <p:nvPr/>
        </p:nvSpPr>
        <p:spPr>
          <a:xfrm>
            <a:off x="7580233" y="2247781"/>
            <a:ext cx="3165038" cy="39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Best Practices</a:t>
            </a:r>
            <a:endParaRPr lang="en-US" sz="24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0BE9A12-9C25-9E8E-D2BD-00370C0EE326}"/>
              </a:ext>
            </a:extLst>
          </p:cNvPr>
          <p:cNvSpPr/>
          <p:nvPr/>
        </p:nvSpPr>
        <p:spPr>
          <a:xfrm>
            <a:off x="7580233" y="2880598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FBC0002-7BE7-E7A4-6401-100A552E5ED5}"/>
              </a:ext>
            </a:extLst>
          </p:cNvPr>
          <p:cNvSpPr/>
          <p:nvPr/>
        </p:nvSpPr>
        <p:spPr>
          <a:xfrm>
            <a:off x="8265914" y="2953107"/>
            <a:ext cx="3082409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Root User ONLY For</a:t>
            </a:r>
            <a:endParaRPr lang="en-US" sz="20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11A2423-8829-2446-A946-E1F95AA1A19F}"/>
              </a:ext>
            </a:extLst>
          </p:cNvPr>
          <p:cNvSpPr/>
          <p:nvPr/>
        </p:nvSpPr>
        <p:spPr>
          <a:xfrm>
            <a:off x="8265914" y="3493651"/>
            <a:ext cx="5633680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account setup</a:t>
            </a:r>
            <a:endParaRPr lang="en-US" sz="16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C445071-FD3A-A91B-38E3-57F823D59A3B}"/>
              </a:ext>
            </a:extLst>
          </p:cNvPr>
          <p:cNvSpPr/>
          <p:nvPr/>
        </p:nvSpPr>
        <p:spPr>
          <a:xfrm>
            <a:off x="8265914" y="3905012"/>
            <a:ext cx="5633680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configuration</a:t>
            </a:r>
            <a:endParaRPr lang="en-US" sz="16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B346BFF-7ECD-29CA-3571-0D4407516072}"/>
              </a:ext>
            </a:extLst>
          </p:cNvPr>
          <p:cNvSpPr/>
          <p:nvPr/>
        </p:nvSpPr>
        <p:spPr>
          <a:xfrm>
            <a:off x="8265914" y="4316373"/>
            <a:ext cx="5633680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MFA</a:t>
            </a:r>
            <a:endParaRPr lang="en-US" sz="165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0479F9A-6B52-E183-CBFB-40C9D17B4AB7}"/>
              </a:ext>
            </a:extLst>
          </p:cNvPr>
          <p:cNvSpPr/>
          <p:nvPr/>
        </p:nvSpPr>
        <p:spPr>
          <a:xfrm>
            <a:off x="7580233" y="5075873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EBF4A48-A22C-8796-E5F0-D06AEB712B2A}"/>
              </a:ext>
            </a:extLst>
          </p:cNvPr>
          <p:cNvSpPr/>
          <p:nvPr/>
        </p:nvSpPr>
        <p:spPr>
          <a:xfrm>
            <a:off x="8265914" y="5148382"/>
            <a:ext cx="3130510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Never Use Root User For</a:t>
            </a:r>
            <a:endParaRPr lang="en-US" sz="20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5EF15A9-B8F1-4E02-5872-B5C71C99A9AD}"/>
              </a:ext>
            </a:extLst>
          </p:cNvPr>
          <p:cNvSpPr/>
          <p:nvPr/>
        </p:nvSpPr>
        <p:spPr>
          <a:xfrm>
            <a:off x="8265914" y="5688925"/>
            <a:ext cx="5633680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operations, development work, or routine administrative tasks</a:t>
            </a:r>
            <a:endParaRPr lang="en-US" sz="16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40B6A84-1105-9771-EB81-82D6BCF1DB58}"/>
              </a:ext>
            </a:extLst>
          </p:cNvPr>
          <p:cNvSpPr/>
          <p:nvPr/>
        </p:nvSpPr>
        <p:spPr>
          <a:xfrm>
            <a:off x="1054894" y="7075884"/>
            <a:ext cx="12837081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the root user for daily operations is one of the most common security mistakes in cloud environments.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627729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1372B3-B924-E8D6-41BE-B937258A89AF}"/>
              </a:ext>
            </a:extLst>
          </p:cNvPr>
          <p:cNvSpPr/>
          <p:nvPr/>
        </p:nvSpPr>
        <p:spPr>
          <a:xfrm>
            <a:off x="630436" y="778073"/>
            <a:ext cx="4503182" cy="562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IAM Best Practices</a:t>
            </a:r>
            <a:endParaRPr lang="en-US" sz="3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7C552D-529D-B0EB-9BB9-056734301102}"/>
              </a:ext>
            </a:extLst>
          </p:cNvPr>
          <p:cNvSpPr/>
          <p:nvPr/>
        </p:nvSpPr>
        <p:spPr>
          <a:xfrm>
            <a:off x="630436" y="1611035"/>
            <a:ext cx="7883128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Following these guidelines is essential for interviews and real-world cloud security.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C3DD24-017A-2C45-EDDD-23E07F273198}"/>
              </a:ext>
            </a:extLst>
          </p:cNvPr>
          <p:cNvSpPr/>
          <p:nvPr/>
        </p:nvSpPr>
        <p:spPr>
          <a:xfrm>
            <a:off x="630436" y="2101691"/>
            <a:ext cx="3851553" cy="1340882"/>
          </a:xfrm>
          <a:prstGeom prst="roundRect">
            <a:avLst>
              <a:gd name="adj" fmla="val 564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63C269-6331-2BAF-ED54-03F6A1618518}"/>
              </a:ext>
            </a:extLst>
          </p:cNvPr>
          <p:cNvSpPr/>
          <p:nvPr/>
        </p:nvSpPr>
        <p:spPr>
          <a:xfrm>
            <a:off x="818078" y="2289334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Enable MFA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894ED83-3591-221A-83DA-95C778772D07}"/>
              </a:ext>
            </a:extLst>
          </p:cNvPr>
          <p:cNvSpPr/>
          <p:nvPr/>
        </p:nvSpPr>
        <p:spPr>
          <a:xfrm>
            <a:off x="818078" y="2678668"/>
            <a:ext cx="3476268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multi-factor authentication for all privileged accounts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50F3F6-859D-B0F9-5349-B730A5914713}"/>
              </a:ext>
            </a:extLst>
          </p:cNvPr>
          <p:cNvSpPr/>
          <p:nvPr/>
        </p:nvSpPr>
        <p:spPr>
          <a:xfrm>
            <a:off x="4662011" y="2101691"/>
            <a:ext cx="3851553" cy="1340882"/>
          </a:xfrm>
          <a:prstGeom prst="roundRect">
            <a:avLst>
              <a:gd name="adj" fmla="val 564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1EFAD3F-F284-6EB9-312E-0DE9B4351287}"/>
              </a:ext>
            </a:extLst>
          </p:cNvPr>
          <p:cNvSpPr/>
          <p:nvPr/>
        </p:nvSpPr>
        <p:spPr>
          <a:xfrm>
            <a:off x="4849654" y="2289334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Least Privilege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50EA9F7-CAAC-FEB8-8352-A2796C06FE34}"/>
              </a:ext>
            </a:extLst>
          </p:cNvPr>
          <p:cNvSpPr/>
          <p:nvPr/>
        </p:nvSpPr>
        <p:spPr>
          <a:xfrm>
            <a:off x="4849654" y="2678668"/>
            <a:ext cx="3476268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only permissions needed for the job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0395408-4089-34CA-69EF-60A91A31EC7A}"/>
              </a:ext>
            </a:extLst>
          </p:cNvPr>
          <p:cNvSpPr/>
          <p:nvPr/>
        </p:nvSpPr>
        <p:spPr>
          <a:xfrm>
            <a:off x="630436" y="3622596"/>
            <a:ext cx="7883128" cy="1052751"/>
          </a:xfrm>
          <a:prstGeom prst="roundRect">
            <a:avLst>
              <a:gd name="adj" fmla="val 718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2B80340-D0DB-73C8-08F5-D1F81AEA9C33}"/>
              </a:ext>
            </a:extLst>
          </p:cNvPr>
          <p:cNvSpPr/>
          <p:nvPr/>
        </p:nvSpPr>
        <p:spPr>
          <a:xfrm>
            <a:off x="818078" y="3810238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Roles</a:t>
            </a:r>
            <a:endParaRPr lang="en-US" sz="17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FFEE36-9AF8-BE38-0930-1B86A8BF4AFE}"/>
              </a:ext>
            </a:extLst>
          </p:cNvPr>
          <p:cNvSpPr/>
          <p:nvPr/>
        </p:nvSpPr>
        <p:spPr>
          <a:xfrm>
            <a:off x="818078" y="4199573"/>
            <a:ext cx="7507843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 IAM roles over access keys for services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516F02E-EA24-F67C-9E26-7197CF851920}"/>
              </a:ext>
            </a:extLst>
          </p:cNvPr>
          <p:cNvSpPr/>
          <p:nvPr/>
        </p:nvSpPr>
        <p:spPr>
          <a:xfrm>
            <a:off x="630436" y="4877872"/>
            <a:ext cx="3851553" cy="1340882"/>
          </a:xfrm>
          <a:prstGeom prst="roundRect">
            <a:avLst>
              <a:gd name="adj" fmla="val 564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47EF8AD-DA4C-E869-F693-EF6734577FEB}"/>
              </a:ext>
            </a:extLst>
          </p:cNvPr>
          <p:cNvSpPr/>
          <p:nvPr/>
        </p:nvSpPr>
        <p:spPr>
          <a:xfrm>
            <a:off x="818078" y="5065514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Rotate Credentials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11BF2D8-1C41-633D-BBF7-ECBFB5DF77CE}"/>
              </a:ext>
            </a:extLst>
          </p:cNvPr>
          <p:cNvSpPr/>
          <p:nvPr/>
        </p:nvSpPr>
        <p:spPr>
          <a:xfrm>
            <a:off x="818078" y="5454848"/>
            <a:ext cx="3476268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Regularly update passwords and access keys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B6F6294-D256-28E4-FEC5-585E2EA34F0D}"/>
              </a:ext>
            </a:extLst>
          </p:cNvPr>
          <p:cNvSpPr/>
          <p:nvPr/>
        </p:nvSpPr>
        <p:spPr>
          <a:xfrm>
            <a:off x="4662011" y="4877872"/>
            <a:ext cx="3851553" cy="1340882"/>
          </a:xfrm>
          <a:prstGeom prst="roundRect">
            <a:avLst>
              <a:gd name="adj" fmla="val 564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A575EE6-275A-D16E-DB2B-3A5ED3907CA4}"/>
              </a:ext>
            </a:extLst>
          </p:cNvPr>
          <p:cNvSpPr/>
          <p:nvPr/>
        </p:nvSpPr>
        <p:spPr>
          <a:xfrm>
            <a:off x="4849654" y="5065514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Hardcoding</a:t>
            </a:r>
            <a:endParaRPr lang="en-US" sz="17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5600980-D5A4-206F-B119-560BA323A4B9}"/>
              </a:ext>
            </a:extLst>
          </p:cNvPr>
          <p:cNvSpPr/>
          <p:nvPr/>
        </p:nvSpPr>
        <p:spPr>
          <a:xfrm>
            <a:off x="4849654" y="5454848"/>
            <a:ext cx="3476268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embed credentials in code or configuration files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8FDB29E-0E70-ACEB-D63B-9D41744CEBDB}"/>
              </a:ext>
            </a:extLst>
          </p:cNvPr>
          <p:cNvSpPr/>
          <p:nvPr/>
        </p:nvSpPr>
        <p:spPr>
          <a:xfrm>
            <a:off x="630436" y="6398776"/>
            <a:ext cx="7883128" cy="1052751"/>
          </a:xfrm>
          <a:prstGeom prst="roundRect">
            <a:avLst>
              <a:gd name="adj" fmla="val 718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2F2B2AE-C7C4-F551-0012-FCD610EC9BE4}"/>
              </a:ext>
            </a:extLst>
          </p:cNvPr>
          <p:cNvSpPr/>
          <p:nvPr/>
        </p:nvSpPr>
        <p:spPr>
          <a:xfrm>
            <a:off x="818078" y="6586418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Groups</a:t>
            </a:r>
            <a:endParaRPr lang="en-US" sz="17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FFFEEA1-6C53-77AF-1D3F-24A07FED3F93}"/>
              </a:ext>
            </a:extLst>
          </p:cNvPr>
          <p:cNvSpPr/>
          <p:nvPr/>
        </p:nvSpPr>
        <p:spPr>
          <a:xfrm>
            <a:off x="818078" y="6975753"/>
            <a:ext cx="7507843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permissions via groups, not individual users</a:t>
            </a:r>
            <a:endParaRPr lang="en-US" sz="140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34BD873F-96E4-25C9-AAD1-02866F7E2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08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9699" y="560030"/>
            <a:ext cx="3966184" cy="30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3600" b="1" dirty="0">
                <a:solidFill>
                  <a:srgbClr val="152D47"/>
                </a:solidFill>
                <a:latin typeface="Interbold"/>
                <a:ea typeface="Crimson Pro Semi Bold" pitchFamily="34" charset="-122"/>
                <a:cs typeface="Crimson Pro Semi Bold" pitchFamily="34" charset="-120"/>
              </a:rPr>
              <a:t>Practical Application</a:t>
            </a:r>
            <a:endParaRPr lang="en-US" sz="3600" b="1" dirty="0">
              <a:latin typeface="Interbol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9699" y="923984"/>
            <a:ext cx="1758242" cy="19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152D47"/>
                </a:solidFill>
                <a:latin typeface="Interbold"/>
                <a:ea typeface="Crimson Pro Semi Bold" pitchFamily="34" charset="-122"/>
                <a:cs typeface="Crimson Pro Semi Bold" pitchFamily="34" charset="-120"/>
              </a:rPr>
              <a:t>Real-World Scenario</a:t>
            </a:r>
            <a:endParaRPr lang="en-US" sz="1400" dirty="0">
              <a:latin typeface="Interbold"/>
            </a:endParaRPr>
          </a:p>
        </p:txBody>
      </p:sp>
      <p:sp>
        <p:nvSpPr>
          <p:cNvPr id="6" name="Text 4"/>
          <p:cNvSpPr/>
          <p:nvPr/>
        </p:nvSpPr>
        <p:spPr>
          <a:xfrm>
            <a:off x="449699" y="1171094"/>
            <a:ext cx="6769537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A company has 10 developers and 2 administrators. Here's the secure approach using IAM best practices: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99" y="1430971"/>
            <a:ext cx="393383" cy="4844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1663" y="1509552"/>
            <a:ext cx="983694" cy="12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rial" panose="020B0604020202020204" pitchFamily="34" charset="0"/>
                <a:ea typeface="Crimson Pro Semi Bold" pitchFamily="34" charset="-122"/>
                <a:cs typeface="Arial" panose="020B0604020202020204" pitchFamily="34" charset="0"/>
              </a:rPr>
              <a:t>Create Groups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21663" y="1755608"/>
            <a:ext cx="629757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 up DeveloperGroup and AdminGroup with appropriate permission boundaries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99" y="1915436"/>
            <a:ext cx="393383" cy="4844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1663" y="1994017"/>
            <a:ext cx="983694" cy="12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rial" panose="020B0604020202020204" pitchFamily="34" charset="0"/>
                <a:ea typeface="Crimson Pro Semi Bold" pitchFamily="34" charset="-122"/>
                <a:cs typeface="Arial" panose="020B0604020202020204" pitchFamily="34" charset="0"/>
              </a:rPr>
              <a:t>Attach Policies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21663" y="2240073"/>
            <a:ext cx="629757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Apply appropriate managed or custom policies to each group based on job functions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99" y="2399901"/>
            <a:ext cx="393383" cy="4844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1663" y="2519260"/>
            <a:ext cx="983694" cy="12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rial" panose="020B0604020202020204" pitchFamily="34" charset="0"/>
                <a:ea typeface="Crimson Pro Semi Bold" pitchFamily="34" charset="-122"/>
                <a:cs typeface="Arial" panose="020B0604020202020204" pitchFamily="34" charset="0"/>
              </a:rPr>
              <a:t>Add Users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921663" y="2724538"/>
            <a:ext cx="629757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individual IAM users and assign them to their respective groups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699" y="2927568"/>
            <a:ext cx="393383" cy="45048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1663" y="2962948"/>
            <a:ext cx="983694" cy="12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rial" panose="020B0604020202020204" pitchFamily="34" charset="0"/>
                <a:ea typeface="Crimson Pro Semi Bold" pitchFamily="34" charset="-122"/>
                <a:cs typeface="Arial" panose="020B0604020202020204" pitchFamily="34" charset="0"/>
              </a:rPr>
              <a:t>Enable Security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21663" y="3209004"/>
            <a:ext cx="6297573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Enforce MFA and password policies across all users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19417" y="3693470"/>
            <a:ext cx="6769537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Result: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Easy management, enhanced security, and scalable architecture that grows with your team.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7418783" y="779533"/>
            <a:ext cx="2048601" cy="391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Interbold"/>
                <a:ea typeface="Crimson Pro Semi Bold" pitchFamily="34" charset="-122"/>
                <a:cs typeface="Crimson Pro Semi Bold" pitchFamily="34" charset="-120"/>
              </a:rPr>
              <a:t>Hands-On</a:t>
            </a: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</a:t>
            </a:r>
            <a:r>
              <a:rPr lang="en-US" sz="1600" dirty="0">
                <a:solidFill>
                  <a:srgbClr val="152D47"/>
                </a:solidFill>
                <a:latin typeface="Interbold"/>
                <a:ea typeface="Crimson Pro Semi Bold" pitchFamily="34" charset="-122"/>
                <a:cs typeface="Crimson Pro Semi Bold" pitchFamily="34" charset="-120"/>
              </a:rPr>
              <a:t>Lab Work</a:t>
            </a:r>
            <a:endParaRPr lang="en-US" sz="1600" dirty="0">
              <a:latin typeface="Interbold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7429935" y="1271142"/>
            <a:ext cx="177046" cy="17704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2" name="Text 16"/>
          <p:cNvSpPr/>
          <p:nvPr/>
        </p:nvSpPr>
        <p:spPr>
          <a:xfrm>
            <a:off x="7497366" y="1333261"/>
            <a:ext cx="68877" cy="10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Interbold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100" dirty="0">
              <a:latin typeface="Inter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674412" y="1286008"/>
            <a:ext cx="6513909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Interbold"/>
                <a:ea typeface="Heebo" pitchFamily="34" charset="-122"/>
                <a:cs typeface="Heebo" pitchFamily="34" charset="-120"/>
              </a:rPr>
              <a:t>Create an IAM user in your AWS account with console access</a:t>
            </a:r>
            <a:endParaRPr lang="en-US" sz="1400" dirty="0">
              <a:latin typeface="Interbold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418784" y="1605470"/>
            <a:ext cx="177046" cy="17704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5" name="Text 19"/>
          <p:cNvSpPr/>
          <p:nvPr/>
        </p:nvSpPr>
        <p:spPr>
          <a:xfrm>
            <a:off x="7448252" y="1620174"/>
            <a:ext cx="117991" cy="147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Interbold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100" dirty="0">
              <a:latin typeface="Interbold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674412" y="1574513"/>
            <a:ext cx="6513909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Interbold"/>
                <a:ea typeface="Heebo" pitchFamily="34" charset="-122"/>
                <a:cs typeface="Heebo" pitchFamily="34" charset="-120"/>
              </a:rPr>
              <a:t>Create a group and attach a managed policy like ReadOnlyAccess</a:t>
            </a:r>
            <a:endParaRPr lang="en-US" sz="1400" dirty="0">
              <a:latin typeface="Interbold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7418784" y="1939797"/>
            <a:ext cx="177046" cy="17704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8" name="Text 22"/>
          <p:cNvSpPr/>
          <p:nvPr/>
        </p:nvSpPr>
        <p:spPr>
          <a:xfrm>
            <a:off x="7448252" y="1954502"/>
            <a:ext cx="117991" cy="147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Interbold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100" dirty="0">
              <a:latin typeface="Interbold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7674412" y="1954502"/>
            <a:ext cx="6513909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Interbold"/>
                <a:ea typeface="Heebo" pitchFamily="34" charset="-122"/>
                <a:cs typeface="Heebo" pitchFamily="34" charset="-120"/>
              </a:rPr>
              <a:t>Enable MFA on your account using a virtual MFA device</a:t>
            </a:r>
            <a:endParaRPr lang="en-US" sz="1400" dirty="0">
              <a:latin typeface="Interbold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7418784" y="2274125"/>
            <a:ext cx="177046" cy="17704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31" name="Text 25"/>
          <p:cNvSpPr/>
          <p:nvPr/>
        </p:nvSpPr>
        <p:spPr>
          <a:xfrm>
            <a:off x="7448252" y="2288829"/>
            <a:ext cx="117991" cy="147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Interbold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100" dirty="0">
              <a:latin typeface="Interbold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7674412" y="2266891"/>
            <a:ext cx="6513909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Interbold"/>
                <a:ea typeface="Heebo" pitchFamily="34" charset="-122"/>
                <a:cs typeface="Heebo" pitchFamily="34" charset="-120"/>
              </a:rPr>
              <a:t>Explore IAM roles and create a role for EC2 instance access</a:t>
            </a:r>
            <a:endParaRPr lang="en-US" sz="1400" dirty="0">
              <a:latin typeface="Interbold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7418784" y="2608452"/>
            <a:ext cx="177046" cy="17704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34" name="Text 28"/>
          <p:cNvSpPr/>
          <p:nvPr/>
        </p:nvSpPr>
        <p:spPr>
          <a:xfrm>
            <a:off x="7448252" y="2623157"/>
            <a:ext cx="117991" cy="147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Interbold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100" dirty="0">
              <a:latin typeface="Interbold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7674412" y="2633991"/>
            <a:ext cx="6513909" cy="12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Interbold"/>
                <a:ea typeface="Heebo" pitchFamily="34" charset="-122"/>
                <a:cs typeface="Heebo" pitchFamily="34" charset="-120"/>
              </a:rPr>
              <a:t>Review IAM Access Analyzer to identify unintended access</a:t>
            </a:r>
            <a:endParaRPr lang="en-US" sz="1400" dirty="0">
              <a:latin typeface="Interbold"/>
            </a:endParaRPr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8784" y="3693469"/>
            <a:ext cx="4738568" cy="3829851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7366" y="7725013"/>
            <a:ext cx="98346" cy="785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796</Words>
  <Application>Microsoft Office PowerPoint</Application>
  <PresentationFormat>Custom</PresentationFormat>
  <Paragraphs>135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Inter Bold</vt:lpstr>
      <vt:lpstr>Heebo</vt:lpstr>
      <vt:lpstr>Consolas</vt:lpstr>
      <vt:lpstr>Arial</vt:lpstr>
      <vt:lpstr>Inter</vt:lpstr>
      <vt:lpstr>Inter Light</vt:lpstr>
      <vt:lpstr>Interbold</vt:lpstr>
      <vt:lpstr>Crimson Pro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Administrator</cp:lastModifiedBy>
  <cp:revision>25</cp:revision>
  <dcterms:created xsi:type="dcterms:W3CDTF">2026-01-14T17:13:40Z</dcterms:created>
  <dcterms:modified xsi:type="dcterms:W3CDTF">2026-01-15T00:00:43Z</dcterms:modified>
</cp:coreProperties>
</file>
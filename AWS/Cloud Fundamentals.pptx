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sldIdLst>
    <p:sldId id="282" r:id="rId3"/>
    <p:sldId id="256" r:id="rId4"/>
    <p:sldId id="257" r:id="rId5"/>
    <p:sldId id="258" r:id="rId6"/>
    <p:sldId id="259" r:id="rId7"/>
    <p:sldId id="260" r:id="rId8"/>
    <p:sldId id="284" r:id="rId9"/>
    <p:sldId id="286" r:id="rId10"/>
    <p:sldId id="287" r:id="rId11"/>
    <p:sldId id="288" r:id="rId12"/>
    <p:sldId id="289" r:id="rId13"/>
    <p:sldId id="285" r:id="rId14"/>
    <p:sldId id="290" r:id="rId15"/>
    <p:sldId id="307" r:id="rId16"/>
    <p:sldId id="308" r:id="rId17"/>
    <p:sldId id="30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21C678-1881-4EB9-95CD-FEB2CB80828E}" type="doc">
      <dgm:prSet loTypeId="urn:microsoft.com/office/officeart/2005/8/layout/pyramid1" loCatId="pyramid" qsTypeId="urn:microsoft.com/office/officeart/2005/8/quickstyle/simple1" qsCatId="simple" csTypeId="urn:microsoft.com/office/officeart/2005/8/colors/accent2_2" csCatId="accent2" phldr="1"/>
      <dgm:spPr/>
    </dgm:pt>
    <dgm:pt modelId="{089EEABF-721B-4445-9209-4EC2611D4F8D}">
      <dgm:prSet phldrT="[Text]" custT="1"/>
      <dgm:spPr/>
      <dgm:t>
        <a:bodyPr/>
        <a:lstStyle/>
        <a:p>
          <a:endParaRPr lang="en-US" sz="1800" dirty="0"/>
        </a:p>
        <a:p>
          <a:endParaRPr lang="en-US" sz="1800" dirty="0"/>
        </a:p>
        <a:p>
          <a:r>
            <a:rPr lang="en-US" sz="1800" dirty="0"/>
            <a:t>SaaS</a:t>
          </a:r>
          <a:br>
            <a:rPr lang="en-US" sz="1800" dirty="0"/>
          </a:br>
          <a:r>
            <a:rPr lang="en-US" sz="1800" dirty="0"/>
            <a:t>Software as a Service</a:t>
          </a:r>
          <a:endParaRPr lang="en-IN" sz="1800" dirty="0"/>
        </a:p>
      </dgm:t>
    </dgm:pt>
    <dgm:pt modelId="{E084AF98-C2AE-4A2D-96BB-0589EA494FD8}" type="parTrans" cxnId="{66807C9E-C8D6-4727-9289-6375401C93B3}">
      <dgm:prSet/>
      <dgm:spPr/>
      <dgm:t>
        <a:bodyPr/>
        <a:lstStyle/>
        <a:p>
          <a:endParaRPr lang="en-IN"/>
        </a:p>
      </dgm:t>
    </dgm:pt>
    <dgm:pt modelId="{B48CBCB6-172E-4CAC-9729-081226F9EAC0}" type="sibTrans" cxnId="{66807C9E-C8D6-4727-9289-6375401C93B3}">
      <dgm:prSet/>
      <dgm:spPr/>
      <dgm:t>
        <a:bodyPr/>
        <a:lstStyle/>
        <a:p>
          <a:endParaRPr lang="en-IN"/>
        </a:p>
      </dgm:t>
    </dgm:pt>
    <dgm:pt modelId="{99358496-1834-4219-B3C1-9143D3711C08}">
      <dgm:prSet phldrT="[Text]" custT="1"/>
      <dgm:spPr/>
      <dgm:t>
        <a:bodyPr/>
        <a:lstStyle/>
        <a:p>
          <a:r>
            <a:rPr lang="en-US" sz="2400" dirty="0"/>
            <a:t>PaaS</a:t>
          </a:r>
          <a:br>
            <a:rPr lang="en-US" sz="2400" dirty="0"/>
          </a:br>
          <a:r>
            <a:rPr lang="en-US" sz="2400" dirty="0"/>
            <a:t>Platform as a Service</a:t>
          </a:r>
          <a:endParaRPr lang="en-IN" sz="2400" dirty="0"/>
        </a:p>
      </dgm:t>
    </dgm:pt>
    <dgm:pt modelId="{01656366-7097-4252-ADFA-B0B24FF06A3A}" type="parTrans" cxnId="{5F334CE3-E37F-41B4-B1E3-99D2AB091CD2}">
      <dgm:prSet/>
      <dgm:spPr/>
      <dgm:t>
        <a:bodyPr/>
        <a:lstStyle/>
        <a:p>
          <a:endParaRPr lang="en-IN"/>
        </a:p>
      </dgm:t>
    </dgm:pt>
    <dgm:pt modelId="{3CC9F7C3-BA83-4FD8-92B1-9B68A2E3D592}" type="sibTrans" cxnId="{5F334CE3-E37F-41B4-B1E3-99D2AB091CD2}">
      <dgm:prSet/>
      <dgm:spPr/>
      <dgm:t>
        <a:bodyPr/>
        <a:lstStyle/>
        <a:p>
          <a:endParaRPr lang="en-IN"/>
        </a:p>
      </dgm:t>
    </dgm:pt>
    <dgm:pt modelId="{62FEBEFD-B479-439A-8148-424889697E10}">
      <dgm:prSet phldrT="[Text]" custT="1"/>
      <dgm:spPr/>
      <dgm:t>
        <a:bodyPr/>
        <a:lstStyle/>
        <a:p>
          <a:r>
            <a:rPr lang="en-US" sz="2400" dirty="0"/>
            <a:t>IaaS</a:t>
          </a:r>
          <a:br>
            <a:rPr lang="en-US" sz="2400" dirty="0"/>
          </a:br>
          <a:r>
            <a:rPr lang="en-US" sz="2400" dirty="0"/>
            <a:t>Infrastructure as a Service</a:t>
          </a:r>
          <a:endParaRPr lang="en-IN" sz="2400" dirty="0"/>
        </a:p>
      </dgm:t>
    </dgm:pt>
    <dgm:pt modelId="{352A2DE2-9D0D-4EE9-8979-404663A5AEC8}" type="parTrans" cxnId="{ABB2788A-1408-4B09-AE29-DF8EF1672AA5}">
      <dgm:prSet/>
      <dgm:spPr/>
      <dgm:t>
        <a:bodyPr/>
        <a:lstStyle/>
        <a:p>
          <a:endParaRPr lang="en-IN"/>
        </a:p>
      </dgm:t>
    </dgm:pt>
    <dgm:pt modelId="{CC9E1D16-2FA7-4D8E-9A5F-6614228B4678}" type="sibTrans" cxnId="{ABB2788A-1408-4B09-AE29-DF8EF1672AA5}">
      <dgm:prSet/>
      <dgm:spPr/>
      <dgm:t>
        <a:bodyPr/>
        <a:lstStyle/>
        <a:p>
          <a:endParaRPr lang="en-IN"/>
        </a:p>
      </dgm:t>
    </dgm:pt>
    <dgm:pt modelId="{82C59150-B641-470B-878E-F3256C7942E5}" type="pres">
      <dgm:prSet presAssocID="{2121C678-1881-4EB9-95CD-FEB2CB80828E}" presName="Name0" presStyleCnt="0">
        <dgm:presLayoutVars>
          <dgm:dir/>
          <dgm:animLvl val="lvl"/>
          <dgm:resizeHandles val="exact"/>
        </dgm:presLayoutVars>
      </dgm:prSet>
      <dgm:spPr/>
    </dgm:pt>
    <dgm:pt modelId="{5A2DF6F4-BAD1-471C-B738-BB99B17D8F84}" type="pres">
      <dgm:prSet presAssocID="{089EEABF-721B-4445-9209-4EC2611D4F8D}" presName="Name8" presStyleCnt="0"/>
      <dgm:spPr/>
    </dgm:pt>
    <dgm:pt modelId="{1271C79B-E43F-42D1-9CC7-29300DC7EEF4}" type="pres">
      <dgm:prSet presAssocID="{089EEABF-721B-4445-9209-4EC2611D4F8D}" presName="level" presStyleLbl="node1" presStyleIdx="0" presStyleCnt="3" custScaleX="99630" custLinFactNeighborX="929">
        <dgm:presLayoutVars>
          <dgm:chMax val="1"/>
          <dgm:bulletEnabled val="1"/>
        </dgm:presLayoutVars>
      </dgm:prSet>
      <dgm:spPr/>
    </dgm:pt>
    <dgm:pt modelId="{4CB2CBF1-DF7B-4E13-A747-B268E94D892C}" type="pres">
      <dgm:prSet presAssocID="{089EEABF-721B-4445-9209-4EC2611D4F8D}" presName="levelTx" presStyleLbl="revTx" presStyleIdx="0" presStyleCnt="0">
        <dgm:presLayoutVars>
          <dgm:chMax val="1"/>
          <dgm:bulletEnabled val="1"/>
        </dgm:presLayoutVars>
      </dgm:prSet>
      <dgm:spPr/>
    </dgm:pt>
    <dgm:pt modelId="{D891E92C-FEA9-4640-B07A-1ABB1E3F62C0}" type="pres">
      <dgm:prSet presAssocID="{99358496-1834-4219-B3C1-9143D3711C08}" presName="Name8" presStyleCnt="0"/>
      <dgm:spPr/>
    </dgm:pt>
    <dgm:pt modelId="{8D71CD4F-83A4-40F5-8709-E8245CDD0E15}" type="pres">
      <dgm:prSet presAssocID="{99358496-1834-4219-B3C1-9143D3711C08}" presName="level" presStyleLbl="node1" presStyleIdx="1" presStyleCnt="3" custScaleX="99845">
        <dgm:presLayoutVars>
          <dgm:chMax val="1"/>
          <dgm:bulletEnabled val="1"/>
        </dgm:presLayoutVars>
      </dgm:prSet>
      <dgm:spPr/>
    </dgm:pt>
    <dgm:pt modelId="{4FCF8062-E748-4C22-82AA-49B580713E59}" type="pres">
      <dgm:prSet presAssocID="{99358496-1834-4219-B3C1-9143D3711C08}" presName="levelTx" presStyleLbl="revTx" presStyleIdx="0" presStyleCnt="0">
        <dgm:presLayoutVars>
          <dgm:chMax val="1"/>
          <dgm:bulletEnabled val="1"/>
        </dgm:presLayoutVars>
      </dgm:prSet>
      <dgm:spPr/>
    </dgm:pt>
    <dgm:pt modelId="{7A0B7F14-147C-4408-A4A8-E90D3B15D6C8}" type="pres">
      <dgm:prSet presAssocID="{62FEBEFD-B479-439A-8148-424889697E10}" presName="Name8" presStyleCnt="0"/>
      <dgm:spPr/>
    </dgm:pt>
    <dgm:pt modelId="{A8A6A3F4-0297-493A-BB70-F560806C8511}" type="pres">
      <dgm:prSet presAssocID="{62FEBEFD-B479-439A-8148-424889697E10}" presName="level" presStyleLbl="node1" presStyleIdx="2" presStyleCnt="3">
        <dgm:presLayoutVars>
          <dgm:chMax val="1"/>
          <dgm:bulletEnabled val="1"/>
        </dgm:presLayoutVars>
      </dgm:prSet>
      <dgm:spPr/>
    </dgm:pt>
    <dgm:pt modelId="{D7B5E27F-5106-44D7-9412-0CEA8DB3E46F}" type="pres">
      <dgm:prSet presAssocID="{62FEBEFD-B479-439A-8148-424889697E10}" presName="levelTx" presStyleLbl="revTx" presStyleIdx="0" presStyleCnt="0">
        <dgm:presLayoutVars>
          <dgm:chMax val="1"/>
          <dgm:bulletEnabled val="1"/>
        </dgm:presLayoutVars>
      </dgm:prSet>
      <dgm:spPr/>
    </dgm:pt>
  </dgm:ptLst>
  <dgm:cxnLst>
    <dgm:cxn modelId="{5C983E04-7647-4CCE-9341-87872C7B72FF}" type="presOf" srcId="{089EEABF-721B-4445-9209-4EC2611D4F8D}" destId="{1271C79B-E43F-42D1-9CC7-29300DC7EEF4}" srcOrd="0" destOrd="0" presId="urn:microsoft.com/office/officeart/2005/8/layout/pyramid1"/>
    <dgm:cxn modelId="{18B8734D-7CFD-47E2-8EEA-0DE19857D17F}" type="presOf" srcId="{089EEABF-721B-4445-9209-4EC2611D4F8D}" destId="{4CB2CBF1-DF7B-4E13-A747-B268E94D892C}" srcOrd="1" destOrd="0" presId="urn:microsoft.com/office/officeart/2005/8/layout/pyramid1"/>
    <dgm:cxn modelId="{ABB2788A-1408-4B09-AE29-DF8EF1672AA5}" srcId="{2121C678-1881-4EB9-95CD-FEB2CB80828E}" destId="{62FEBEFD-B479-439A-8148-424889697E10}" srcOrd="2" destOrd="0" parTransId="{352A2DE2-9D0D-4EE9-8979-404663A5AEC8}" sibTransId="{CC9E1D16-2FA7-4D8E-9A5F-6614228B4678}"/>
    <dgm:cxn modelId="{E32C5595-259C-483D-BEBA-364CE7CDFB0B}" type="presOf" srcId="{99358496-1834-4219-B3C1-9143D3711C08}" destId="{8D71CD4F-83A4-40F5-8709-E8245CDD0E15}" srcOrd="0" destOrd="0" presId="urn:microsoft.com/office/officeart/2005/8/layout/pyramid1"/>
    <dgm:cxn modelId="{66807C9E-C8D6-4727-9289-6375401C93B3}" srcId="{2121C678-1881-4EB9-95CD-FEB2CB80828E}" destId="{089EEABF-721B-4445-9209-4EC2611D4F8D}" srcOrd="0" destOrd="0" parTransId="{E084AF98-C2AE-4A2D-96BB-0589EA494FD8}" sibTransId="{B48CBCB6-172E-4CAC-9729-081226F9EAC0}"/>
    <dgm:cxn modelId="{5F334CE3-E37F-41B4-B1E3-99D2AB091CD2}" srcId="{2121C678-1881-4EB9-95CD-FEB2CB80828E}" destId="{99358496-1834-4219-B3C1-9143D3711C08}" srcOrd="1" destOrd="0" parTransId="{01656366-7097-4252-ADFA-B0B24FF06A3A}" sibTransId="{3CC9F7C3-BA83-4FD8-92B1-9B68A2E3D592}"/>
    <dgm:cxn modelId="{C36DDAE4-0498-4500-B9DC-1633DDE0BC7E}" type="presOf" srcId="{2121C678-1881-4EB9-95CD-FEB2CB80828E}" destId="{82C59150-B641-470B-878E-F3256C7942E5}" srcOrd="0" destOrd="0" presId="urn:microsoft.com/office/officeart/2005/8/layout/pyramid1"/>
    <dgm:cxn modelId="{4226A1EC-A072-4DF4-B462-6D6D60503938}" type="presOf" srcId="{99358496-1834-4219-B3C1-9143D3711C08}" destId="{4FCF8062-E748-4C22-82AA-49B580713E59}" srcOrd="1" destOrd="0" presId="urn:microsoft.com/office/officeart/2005/8/layout/pyramid1"/>
    <dgm:cxn modelId="{8E46C4F0-E46D-4518-8449-6D1535F3FCED}" type="presOf" srcId="{62FEBEFD-B479-439A-8148-424889697E10}" destId="{D7B5E27F-5106-44D7-9412-0CEA8DB3E46F}" srcOrd="1" destOrd="0" presId="urn:microsoft.com/office/officeart/2005/8/layout/pyramid1"/>
    <dgm:cxn modelId="{A2B899FF-064C-43DD-B047-E38DBB39906C}" type="presOf" srcId="{62FEBEFD-B479-439A-8148-424889697E10}" destId="{A8A6A3F4-0297-493A-BB70-F560806C8511}" srcOrd="0" destOrd="0" presId="urn:microsoft.com/office/officeart/2005/8/layout/pyramid1"/>
    <dgm:cxn modelId="{FED8DE14-C208-45E6-BEE2-C35F25F785AC}" type="presParOf" srcId="{82C59150-B641-470B-878E-F3256C7942E5}" destId="{5A2DF6F4-BAD1-471C-B738-BB99B17D8F84}" srcOrd="0" destOrd="0" presId="urn:microsoft.com/office/officeart/2005/8/layout/pyramid1"/>
    <dgm:cxn modelId="{805C0082-1942-42C8-ACA6-1448A57DC816}" type="presParOf" srcId="{5A2DF6F4-BAD1-471C-B738-BB99B17D8F84}" destId="{1271C79B-E43F-42D1-9CC7-29300DC7EEF4}" srcOrd="0" destOrd="0" presId="urn:microsoft.com/office/officeart/2005/8/layout/pyramid1"/>
    <dgm:cxn modelId="{23B1C5FC-8AC6-4DBE-9649-D73C468BB5D8}" type="presParOf" srcId="{5A2DF6F4-BAD1-471C-B738-BB99B17D8F84}" destId="{4CB2CBF1-DF7B-4E13-A747-B268E94D892C}" srcOrd="1" destOrd="0" presId="urn:microsoft.com/office/officeart/2005/8/layout/pyramid1"/>
    <dgm:cxn modelId="{1142DE5D-2641-4449-89FC-EC3942E9E527}" type="presParOf" srcId="{82C59150-B641-470B-878E-F3256C7942E5}" destId="{D891E92C-FEA9-4640-B07A-1ABB1E3F62C0}" srcOrd="1" destOrd="0" presId="urn:microsoft.com/office/officeart/2005/8/layout/pyramid1"/>
    <dgm:cxn modelId="{6BD81E63-E270-4017-B769-9B4768B9CEBC}" type="presParOf" srcId="{D891E92C-FEA9-4640-B07A-1ABB1E3F62C0}" destId="{8D71CD4F-83A4-40F5-8709-E8245CDD0E15}" srcOrd="0" destOrd="0" presId="urn:microsoft.com/office/officeart/2005/8/layout/pyramid1"/>
    <dgm:cxn modelId="{AB9826BB-372E-491B-8900-806A9ACCC570}" type="presParOf" srcId="{D891E92C-FEA9-4640-B07A-1ABB1E3F62C0}" destId="{4FCF8062-E748-4C22-82AA-49B580713E59}" srcOrd="1" destOrd="0" presId="urn:microsoft.com/office/officeart/2005/8/layout/pyramid1"/>
    <dgm:cxn modelId="{73F2AD66-0A17-4ABF-9056-78032D0A530C}" type="presParOf" srcId="{82C59150-B641-470B-878E-F3256C7942E5}" destId="{7A0B7F14-147C-4408-A4A8-E90D3B15D6C8}" srcOrd="2" destOrd="0" presId="urn:microsoft.com/office/officeart/2005/8/layout/pyramid1"/>
    <dgm:cxn modelId="{D9414760-780C-42D9-ABB3-24541DA26EF9}" type="presParOf" srcId="{7A0B7F14-147C-4408-A4A8-E90D3B15D6C8}" destId="{A8A6A3F4-0297-493A-BB70-F560806C8511}" srcOrd="0" destOrd="0" presId="urn:microsoft.com/office/officeart/2005/8/layout/pyramid1"/>
    <dgm:cxn modelId="{BB7AFEFC-5FA2-4AE2-8982-D0579ECBB605}" type="presParOf" srcId="{7A0B7F14-147C-4408-A4A8-E90D3B15D6C8}" destId="{D7B5E27F-5106-44D7-9412-0CEA8DB3E46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21C678-1881-4EB9-95CD-FEB2CB80828E}" type="doc">
      <dgm:prSet loTypeId="urn:microsoft.com/office/officeart/2005/8/layout/pyramid1" loCatId="pyramid" qsTypeId="urn:microsoft.com/office/officeart/2005/8/quickstyle/simple1" qsCatId="simple" csTypeId="urn:microsoft.com/office/officeart/2005/8/colors/accent2_2" csCatId="accent2" phldr="1"/>
      <dgm:spPr/>
    </dgm:pt>
    <dgm:pt modelId="{82C59150-B641-470B-878E-F3256C7942E5}" type="pres">
      <dgm:prSet presAssocID="{2121C678-1881-4EB9-95CD-FEB2CB80828E}" presName="Name0" presStyleCnt="0">
        <dgm:presLayoutVars>
          <dgm:dir/>
          <dgm:animLvl val="lvl"/>
          <dgm:resizeHandles val="exact"/>
        </dgm:presLayoutVars>
      </dgm:prSet>
      <dgm:spPr/>
    </dgm:pt>
  </dgm:ptLst>
  <dgm:cxnLst>
    <dgm:cxn modelId="{7D9BC8A2-2FEF-4969-BB4C-77CA746581A7}" type="presOf" srcId="{2121C678-1881-4EB9-95CD-FEB2CB80828E}" destId="{82C59150-B641-470B-878E-F3256C7942E5}" srcOrd="0"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71C79B-E43F-42D1-9CC7-29300DC7EEF4}">
      <dsp:nvSpPr>
        <dsp:cNvPr id="0" name=""/>
        <dsp:cNvSpPr/>
      </dsp:nvSpPr>
      <dsp:spPr>
        <a:xfrm>
          <a:off x="2140798" y="0"/>
          <a:ext cx="2109379" cy="1577462"/>
        </a:xfrm>
        <a:prstGeom prst="trapezoid">
          <a:avLst>
            <a:gd name="adj" fmla="val 67108"/>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r>
            <a:rPr lang="en-US" sz="1800" kern="1200" dirty="0"/>
            <a:t>SaaS</a:t>
          </a:r>
          <a:br>
            <a:rPr lang="en-US" sz="1800" kern="1200" dirty="0"/>
          </a:br>
          <a:r>
            <a:rPr lang="en-US" sz="1800" kern="1200" dirty="0"/>
            <a:t>Software as a Service</a:t>
          </a:r>
          <a:endParaRPr lang="en-IN" sz="1800" kern="1200" dirty="0"/>
        </a:p>
      </dsp:txBody>
      <dsp:txXfrm>
        <a:off x="2140798" y="0"/>
        <a:ext cx="2109379" cy="1577462"/>
      </dsp:txXfrm>
    </dsp:sp>
    <dsp:sp modelId="{8D71CD4F-83A4-40F5-8709-E8245CDD0E15}">
      <dsp:nvSpPr>
        <dsp:cNvPr id="0" name=""/>
        <dsp:cNvSpPr/>
      </dsp:nvSpPr>
      <dsp:spPr>
        <a:xfrm>
          <a:off x="1061888" y="1577462"/>
          <a:ext cx="4227862" cy="1577462"/>
        </a:xfrm>
        <a:prstGeom prst="trapezoid">
          <a:avLst>
            <a:gd name="adj" fmla="val 67108"/>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PaaS</a:t>
          </a:r>
          <a:br>
            <a:rPr lang="en-US" sz="2400" kern="1200" dirty="0"/>
          </a:br>
          <a:r>
            <a:rPr lang="en-US" sz="2400" kern="1200" dirty="0"/>
            <a:t>Platform as a Service</a:t>
          </a:r>
          <a:endParaRPr lang="en-IN" sz="2400" kern="1200" dirty="0"/>
        </a:p>
      </dsp:txBody>
      <dsp:txXfrm>
        <a:off x="1801764" y="1577462"/>
        <a:ext cx="2748110" cy="1577462"/>
      </dsp:txXfrm>
    </dsp:sp>
    <dsp:sp modelId="{A8A6A3F4-0297-493A-BB70-F560806C8511}">
      <dsp:nvSpPr>
        <dsp:cNvPr id="0" name=""/>
        <dsp:cNvSpPr/>
      </dsp:nvSpPr>
      <dsp:spPr>
        <a:xfrm>
          <a:off x="0" y="3154925"/>
          <a:ext cx="6351639" cy="1577462"/>
        </a:xfrm>
        <a:prstGeom prst="trapezoid">
          <a:avLst>
            <a:gd name="adj" fmla="val 67108"/>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IaaS</a:t>
          </a:r>
          <a:br>
            <a:rPr lang="en-US" sz="2400" kern="1200" dirty="0"/>
          </a:br>
          <a:r>
            <a:rPr lang="en-US" sz="2400" kern="1200" dirty="0"/>
            <a:t>Infrastructure as a Service</a:t>
          </a:r>
          <a:endParaRPr lang="en-IN" sz="2400" kern="1200" dirty="0"/>
        </a:p>
      </dsp:txBody>
      <dsp:txXfrm>
        <a:off x="1111536" y="3154925"/>
        <a:ext cx="4128565" cy="15774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220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0118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1921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3986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228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5519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91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4607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727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011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9332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6452" y="1122363"/>
            <a:ext cx="6751097" cy="238760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196452" y="3602038"/>
            <a:ext cx="6751097"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2036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9481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255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666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9200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6354" y="2088320"/>
            <a:ext cx="3659399" cy="823912"/>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1502" y="2088320"/>
            <a:ext cx="3649166" cy="823912"/>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9197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4217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919171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1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82884F1-FFEA-405F-9602-3DCA865EDA4E}"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266546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447330" cy="2362200"/>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3" y="758881"/>
            <a:ext cx="2441517"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5" y="2971800"/>
            <a:ext cx="4451213" cy="2819400"/>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1/14/2026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1741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189913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7178979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627459" y="735241"/>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993467" y="2972093"/>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9758573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1/14/2026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573534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ED291B17-9318-49DB-B28B-6E5994AE9581}" type="datetime1">
              <a:rPr lang="en-US" smtClean="0"/>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992443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4195899"/>
            <a:ext cx="2474216" cy="576262"/>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819015" y="2298987"/>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7" y="4772161"/>
            <a:ext cx="2474216" cy="101903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26" y="4195899"/>
            <a:ext cx="2474237" cy="576262"/>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2298987"/>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4772160"/>
            <a:ext cx="2475252" cy="101903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80067" y="4195899"/>
            <a:ext cx="2467425" cy="576262"/>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114603" y="2298987"/>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973" y="4772162"/>
            <a:ext cx="2470694" cy="1019037"/>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ED291B17-9318-49DB-B28B-6E5994AE9581}" type="datetime1">
              <a:rPr lang="en-US" smtClean="0"/>
              <a:t>1/14/2026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96702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69635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291B17-9318-49DB-B28B-6E5994AE9581}" type="datetime1">
              <a:rPr lang="en-US" smtClean="0"/>
              <a:t>1/14/2026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2995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346709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750">
                <a:solidFill>
                  <a:schemeClr val="tx1">
                    <a:tint val="75000"/>
                  </a:schemeClr>
                </a:solidFill>
              </a:defRPr>
            </a:lvl1pPr>
          </a:lstStyle>
          <a:p>
            <a:fld id="{ED291B17-9318-49DB-B28B-6E5994AE9581}" type="datetime1">
              <a:rPr lang="en-US" smtClean="0"/>
              <a:t>1/14/2026</a:t>
            </a:fld>
            <a:endParaRPr lang="en-US" dirty="0"/>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75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80513575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hf sldNum="0" hdr="0" ftr="0" dt="0"/>
  <p:txStyles>
    <p:titleStyle>
      <a:lvl1pPr algn="ctr" defTabSz="685800" rtl="0" eaLnBrk="1" latinLnBrk="0" hangingPunct="1">
        <a:lnSpc>
          <a:spcPct val="90000"/>
        </a:lnSpc>
        <a:spcBef>
          <a:spcPct val="0"/>
        </a:spcBef>
        <a:buNone/>
        <a:defRPr sz="255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Logo&#10;&#10;Description automatically generated">
            <a:extLst>
              <a:ext uri="{FF2B5EF4-FFF2-40B4-BE49-F238E27FC236}">
                <a16:creationId xmlns:a16="http://schemas.microsoft.com/office/drawing/2014/main" id="{0C5BE7C1-12E4-4230-A6B0-567313BA95F4}"/>
              </a:ext>
            </a:extLst>
          </p:cNvPr>
          <p:cNvPicPr>
            <a:picLocks noChangeAspect="1"/>
          </p:cNvPicPr>
          <p:nvPr/>
        </p:nvPicPr>
        <p:blipFill>
          <a:blip r:embed="rId2"/>
          <a:stretch>
            <a:fillRect/>
          </a:stretch>
        </p:blipFill>
        <p:spPr>
          <a:xfrm>
            <a:off x="0" y="39894"/>
            <a:ext cx="9144000" cy="6924000"/>
          </a:xfrm>
          <a:prstGeom prst="rect">
            <a:avLst/>
          </a:prstGeom>
        </p:spPr>
      </p:pic>
      <p:sp>
        <p:nvSpPr>
          <p:cNvPr id="2" name="Title 1">
            <a:extLst>
              <a:ext uri="{FF2B5EF4-FFF2-40B4-BE49-F238E27FC236}">
                <a16:creationId xmlns:a16="http://schemas.microsoft.com/office/drawing/2014/main" id="{E1FC5398-C628-478A-822A-BE6CBC51559B}"/>
              </a:ext>
            </a:extLst>
          </p:cNvPr>
          <p:cNvSpPr>
            <a:spLocks noGrp="1"/>
          </p:cNvSpPr>
          <p:nvPr>
            <p:ph type="ctrTitle"/>
          </p:nvPr>
        </p:nvSpPr>
        <p:spPr>
          <a:xfrm>
            <a:off x="1231018" y="80833"/>
            <a:ext cx="6681964" cy="2834996"/>
          </a:xfrm>
        </p:spPr>
        <p:txBody>
          <a:bodyPr anchor="ctr">
            <a:normAutofit/>
          </a:bodyPr>
          <a:lstStyle/>
          <a:p>
            <a:r>
              <a:rPr lang="en-US" sz="2800" dirty="0">
                <a:solidFill>
                  <a:schemeClr val="accent6"/>
                </a:solidFill>
                <a:latin typeface="+mn-lt"/>
                <a:cs typeface="Arial" panose="020B0604020202020204" pitchFamily="34" charset="0"/>
              </a:rPr>
              <a:t>Welcome to Aws Solution Architect</a:t>
            </a:r>
            <a:r>
              <a:rPr lang="en-US" sz="2800" dirty="0">
                <a:solidFill>
                  <a:schemeClr val="tx1"/>
                </a:solidFill>
                <a:latin typeface="+mn-lt"/>
                <a:cs typeface="Arial" panose="020B0604020202020204" pitchFamily="34" charset="0"/>
              </a:rPr>
              <a:t> </a:t>
            </a:r>
            <a:r>
              <a:rPr lang="en-US" sz="2800" dirty="0">
                <a:solidFill>
                  <a:schemeClr val="accent6"/>
                </a:solidFill>
                <a:latin typeface="+mn-lt"/>
                <a:cs typeface="Arial" panose="020B0604020202020204" pitchFamily="34" charset="0"/>
              </a:rPr>
              <a:t>TRAINING</a:t>
            </a:r>
            <a:br>
              <a:rPr lang="en-US" dirty="0">
                <a:solidFill>
                  <a:schemeClr val="tx1"/>
                </a:solidFill>
              </a:rPr>
            </a:br>
            <a:br>
              <a:rPr lang="en-US" dirty="0">
                <a:solidFill>
                  <a:schemeClr val="tx1"/>
                </a:solidFill>
              </a:rPr>
            </a:br>
            <a:endParaRPr lang="en-US" sz="2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87362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normAutofit/>
          </a:bodyPr>
          <a:lstStyle/>
          <a:p>
            <a:pPr>
              <a:defRPr sz="3600" b="1">
                <a:solidFill>
                  <a:srgbClr val="FF9900"/>
                </a:solidFill>
              </a:defRPr>
            </a:pPr>
            <a:r>
              <a:rPr sz="3600" b="1" dirty="0">
                <a:solidFill>
                  <a:srgbClr val="FF9900"/>
                </a:solidFill>
              </a:rPr>
              <a:t>What</a:t>
            </a:r>
            <a:r>
              <a:rPr sz="2400" b="1" cap="all" dirty="0">
                <a:solidFill>
                  <a:schemeClr val="accent6"/>
                </a:solidFill>
                <a:effectLst>
                  <a:outerShdw blurRad="50800" dist="63500" dir="2700000" algn="tl" rotWithShape="0">
                    <a:srgbClr val="000000">
                      <a:alpha val="48000"/>
                    </a:srgbClr>
                  </a:outerShdw>
                </a:effectLst>
                <a:latin typeface="Arial" panose="020B0604020202020204" pitchFamily="34" charset="0"/>
                <a:cs typeface="Arial" panose="020B0604020202020204" pitchFamily="34" charset="0"/>
              </a:rPr>
              <a:t> </a:t>
            </a:r>
            <a:r>
              <a:rPr sz="3600" b="1" dirty="0">
                <a:solidFill>
                  <a:srgbClr val="FF9900"/>
                </a:solidFill>
              </a:rPr>
              <a:t>is a Data Centre?</a:t>
            </a:r>
          </a:p>
        </p:txBody>
      </p:sp>
      <p:sp>
        <p:nvSpPr>
          <p:cNvPr id="3" name="Content Placeholder 2"/>
          <p:cNvSpPr>
            <a:spLocks noGrp="1"/>
          </p:cNvSpPr>
          <p:nvPr>
            <p:ph idx="1"/>
          </p:nvPr>
        </p:nvSpPr>
        <p:spPr>
          <a:xfrm>
            <a:off x="628650" y="1687514"/>
            <a:ext cx="7886700" cy="4351338"/>
          </a:xfrm>
        </p:spPr>
        <p:txBody>
          <a:bodyPr/>
          <a:lstStyle/>
          <a:p>
            <a:pPr marL="0" indent="0">
              <a:buNone/>
              <a:defRPr sz="1800">
                <a:solidFill>
                  <a:srgbClr val="FF9900"/>
                </a:solidFill>
              </a:defRPr>
            </a:pPr>
            <a:r>
              <a:rPr dirty="0">
                <a:solidFill>
                  <a:schemeClr val="bg1"/>
                </a:solidFill>
                <a:latin typeface="Rockwell" panose="02060603020205020403" pitchFamily="18" charset="0"/>
              </a:rPr>
              <a:t>A data Centre is a physical location where companies keep:</a:t>
            </a:r>
          </a:p>
          <a:p>
            <a:pPr marL="0" indent="0">
              <a:buNone/>
              <a:defRPr sz="1800">
                <a:solidFill>
                  <a:srgbClr val="FF9900"/>
                </a:solidFill>
              </a:defRPr>
            </a:pPr>
            <a:r>
              <a:rPr dirty="0">
                <a:solidFill>
                  <a:schemeClr val="bg1"/>
                </a:solidFill>
                <a:latin typeface="Rockwell" panose="02060603020205020403" pitchFamily="18" charset="0"/>
              </a:rPr>
              <a:t>• Servers</a:t>
            </a:r>
          </a:p>
          <a:p>
            <a:pPr marL="0" indent="0">
              <a:buNone/>
              <a:defRPr sz="1800">
                <a:solidFill>
                  <a:srgbClr val="FF9900"/>
                </a:solidFill>
              </a:defRPr>
            </a:pPr>
            <a:r>
              <a:rPr dirty="0">
                <a:solidFill>
                  <a:schemeClr val="bg1"/>
                </a:solidFill>
                <a:latin typeface="Rockwell" panose="02060603020205020403" pitchFamily="18" charset="0"/>
              </a:rPr>
              <a:t>• Storage devices</a:t>
            </a:r>
          </a:p>
          <a:p>
            <a:pPr marL="0" indent="0">
              <a:buNone/>
              <a:defRPr sz="1800">
                <a:solidFill>
                  <a:srgbClr val="FF9900"/>
                </a:solidFill>
              </a:defRPr>
            </a:pPr>
            <a:r>
              <a:rPr dirty="0">
                <a:solidFill>
                  <a:schemeClr val="bg1"/>
                </a:solidFill>
                <a:latin typeface="Rockwell" panose="02060603020205020403" pitchFamily="18" charset="0"/>
              </a:rPr>
              <a:t>• Networking equipment</a:t>
            </a:r>
          </a:p>
          <a:p>
            <a:pPr marL="0" indent="0">
              <a:buNone/>
              <a:defRPr sz="1800">
                <a:solidFill>
                  <a:srgbClr val="FF9900"/>
                </a:solidFill>
              </a:defRPr>
            </a:pPr>
            <a:r>
              <a:rPr dirty="0">
                <a:solidFill>
                  <a:schemeClr val="bg1"/>
                </a:solidFill>
                <a:latin typeface="Rockwell" panose="02060603020205020403" pitchFamily="18" charset="0"/>
              </a:rPr>
              <a:t>• Power backup</a:t>
            </a:r>
          </a:p>
          <a:p>
            <a:pPr marL="0" indent="0">
              <a:buNone/>
              <a:defRPr sz="1800">
                <a:solidFill>
                  <a:srgbClr val="FF9900"/>
                </a:solidFill>
              </a:defRPr>
            </a:pPr>
            <a:r>
              <a:rPr dirty="0">
                <a:solidFill>
                  <a:schemeClr val="bg1"/>
                </a:solidFill>
                <a:latin typeface="Rockwell" panose="02060603020205020403" pitchFamily="18" charset="0"/>
              </a:rPr>
              <a:t>• Cooling systems</a:t>
            </a:r>
          </a:p>
          <a:p>
            <a:pPr marL="0" indent="0">
              <a:buNone/>
              <a:defRPr sz="1800">
                <a:solidFill>
                  <a:srgbClr val="FF9900"/>
                </a:solidFill>
              </a:defRPr>
            </a:pPr>
            <a:r>
              <a:rPr dirty="0">
                <a:solidFill>
                  <a:schemeClr val="bg1"/>
                </a:solidFill>
                <a:latin typeface="Rockwell" panose="02060603020205020403" pitchFamily="18" charset="0"/>
              </a:rPr>
              <a:t>• Security systems</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Earlier companies had to buy servers, maintain cooling, electricity, staff, and disaster recovery. Scaling was slow and failures caused downtime. This led to Cloud Computing.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FF9900"/>
                </a:solidFill>
              </a:defRPr>
            </a:pPr>
            <a:r>
              <a:rPr dirty="0"/>
              <a:t>What is Cloud Computing?</a:t>
            </a:r>
          </a:p>
        </p:txBody>
      </p:sp>
      <p:sp>
        <p:nvSpPr>
          <p:cNvPr id="3" name="Content Placeholder 2"/>
          <p:cNvSpPr>
            <a:spLocks noGrp="1"/>
          </p:cNvSpPr>
          <p:nvPr>
            <p:ph idx="1"/>
          </p:nvPr>
        </p:nvSpPr>
        <p:spPr>
          <a:xfrm>
            <a:off x="628650" y="1690689"/>
            <a:ext cx="7886700" cy="4351338"/>
          </a:xfrm>
        </p:spPr>
        <p:txBody>
          <a:bodyPr/>
          <a:lstStyle/>
          <a:p>
            <a:pPr marL="0" indent="0">
              <a:buNone/>
              <a:defRPr sz="1800">
                <a:solidFill>
                  <a:srgbClr val="FF9900"/>
                </a:solidFill>
              </a:defRPr>
            </a:pPr>
            <a:r>
              <a:rPr dirty="0">
                <a:solidFill>
                  <a:schemeClr val="bg1"/>
                </a:solidFill>
                <a:latin typeface="Rockwell" panose="02060603020205020403" pitchFamily="18" charset="0"/>
              </a:rPr>
              <a:t>Cloud computing means using IT resources over the internet.</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 Rent servers instead of buying</a:t>
            </a:r>
          </a:p>
          <a:p>
            <a:pPr marL="0" indent="0">
              <a:buNone/>
              <a:defRPr sz="1800">
                <a:solidFill>
                  <a:srgbClr val="FF9900"/>
                </a:solidFill>
              </a:defRPr>
            </a:pPr>
            <a:r>
              <a:rPr dirty="0">
                <a:solidFill>
                  <a:schemeClr val="bg1"/>
                </a:solidFill>
                <a:latin typeface="Rockwell" panose="02060603020205020403" pitchFamily="18" charset="0"/>
              </a:rPr>
              <a:t>• Use provider data centers</a:t>
            </a:r>
          </a:p>
          <a:p>
            <a:pPr marL="0" indent="0">
              <a:buNone/>
              <a:defRPr sz="1800">
                <a:solidFill>
                  <a:srgbClr val="FF9900"/>
                </a:solidFill>
              </a:defRPr>
            </a:pPr>
            <a:r>
              <a:rPr dirty="0">
                <a:solidFill>
                  <a:schemeClr val="bg1"/>
                </a:solidFill>
                <a:latin typeface="Rockwell" panose="02060603020205020403" pitchFamily="18" charset="0"/>
              </a:rPr>
              <a:t>• No hardware maintenance</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AWS, Azure, and GCP are providers. AWS is the market leader.</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Cloud is On-demand, Pay-as-you-go, Scalable, Highly available, and Secure.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FF9900"/>
                </a:solidFill>
              </a:defRPr>
            </a:pPr>
            <a:r>
              <a:t>Advantages of Cloud Computing</a:t>
            </a:r>
          </a:p>
        </p:txBody>
      </p:sp>
      <p:sp>
        <p:nvSpPr>
          <p:cNvPr id="3" name="Content Placeholder 2"/>
          <p:cNvSpPr>
            <a:spLocks noGrp="1"/>
          </p:cNvSpPr>
          <p:nvPr>
            <p:ph idx="1"/>
          </p:nvPr>
        </p:nvSpPr>
        <p:spPr/>
        <p:txBody>
          <a:bodyPr/>
          <a:lstStyle/>
          <a:p>
            <a:pPr marL="0" indent="0">
              <a:buNone/>
              <a:defRPr sz="1800">
                <a:solidFill>
                  <a:srgbClr val="FF9900"/>
                </a:solidFill>
              </a:defRPr>
            </a:pPr>
            <a:r>
              <a:rPr dirty="0">
                <a:solidFill>
                  <a:schemeClr val="bg1"/>
                </a:solidFill>
              </a:rPr>
              <a:t>• </a:t>
            </a:r>
            <a:r>
              <a:rPr dirty="0">
                <a:solidFill>
                  <a:schemeClr val="bg1"/>
                </a:solidFill>
                <a:latin typeface="Rockwell" panose="02060603020205020403" pitchFamily="18" charset="0"/>
              </a:rPr>
              <a:t>Cost Saving</a:t>
            </a:r>
          </a:p>
          <a:p>
            <a:pPr marL="0" indent="0">
              <a:buNone/>
              <a:defRPr sz="1800">
                <a:solidFill>
                  <a:srgbClr val="FF9900"/>
                </a:solidFill>
              </a:defRPr>
            </a:pPr>
            <a:r>
              <a:rPr dirty="0">
                <a:solidFill>
                  <a:schemeClr val="bg1"/>
                </a:solidFill>
                <a:latin typeface="Rockwell" panose="02060603020205020403" pitchFamily="18" charset="0"/>
              </a:rPr>
              <a:t>• Scalability</a:t>
            </a:r>
          </a:p>
          <a:p>
            <a:pPr marL="0" indent="0">
              <a:buNone/>
              <a:defRPr sz="1800">
                <a:solidFill>
                  <a:srgbClr val="FF9900"/>
                </a:solidFill>
              </a:defRPr>
            </a:pPr>
            <a:r>
              <a:rPr dirty="0">
                <a:solidFill>
                  <a:schemeClr val="bg1"/>
                </a:solidFill>
                <a:latin typeface="Rockwell" panose="02060603020205020403" pitchFamily="18" charset="0"/>
              </a:rPr>
              <a:t>• High Availability</a:t>
            </a:r>
          </a:p>
          <a:p>
            <a:pPr marL="0" indent="0">
              <a:buNone/>
              <a:defRPr sz="1800">
                <a:solidFill>
                  <a:srgbClr val="FF9900"/>
                </a:solidFill>
              </a:defRPr>
            </a:pPr>
            <a:r>
              <a:rPr dirty="0">
                <a:solidFill>
                  <a:schemeClr val="bg1"/>
                </a:solidFill>
                <a:latin typeface="Rockwell" panose="02060603020205020403" pitchFamily="18" charset="0"/>
              </a:rPr>
              <a:t>• Speed</a:t>
            </a:r>
          </a:p>
          <a:p>
            <a:pPr marL="0" indent="0">
              <a:buNone/>
              <a:defRPr sz="1800">
                <a:solidFill>
                  <a:srgbClr val="FF9900"/>
                </a:solidFill>
              </a:defRPr>
            </a:pPr>
            <a:r>
              <a:rPr dirty="0">
                <a:solidFill>
                  <a:schemeClr val="bg1"/>
                </a:solidFill>
                <a:latin typeface="Rockwell" panose="02060603020205020403" pitchFamily="18" charset="0"/>
              </a:rPr>
              <a:t>• Security</a:t>
            </a:r>
          </a:p>
          <a:p>
            <a:pPr marL="0" indent="0">
              <a:buNone/>
              <a:defRPr sz="1800">
                <a:solidFill>
                  <a:srgbClr val="FF9900"/>
                </a:solidFill>
              </a:defRPr>
            </a:pPr>
            <a:r>
              <a:rPr dirty="0">
                <a:solidFill>
                  <a:schemeClr val="bg1"/>
                </a:solidFill>
                <a:latin typeface="Rockwell" panose="02060603020205020403" pitchFamily="18" charset="0"/>
              </a:rPr>
              <a:t>• Global Reach</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Because of these benefits, companies are rapidly moving to cloud.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FF9900"/>
                </a:solidFill>
              </a:defRPr>
            </a:pPr>
            <a:r>
              <a:t>Cloud Service Models</a:t>
            </a:r>
          </a:p>
        </p:txBody>
      </p:sp>
      <p:sp>
        <p:nvSpPr>
          <p:cNvPr id="3" name="Content Placeholder 2"/>
          <p:cNvSpPr>
            <a:spLocks noGrp="1"/>
          </p:cNvSpPr>
          <p:nvPr>
            <p:ph idx="1"/>
          </p:nvPr>
        </p:nvSpPr>
        <p:spPr>
          <a:xfrm>
            <a:off x="628650" y="1690689"/>
            <a:ext cx="7886700" cy="4351338"/>
          </a:xfrm>
        </p:spPr>
        <p:txBody>
          <a:bodyPr>
            <a:normAutofit lnSpcReduction="10000"/>
          </a:bodyPr>
          <a:lstStyle/>
          <a:p>
            <a:pPr>
              <a:defRPr sz="1800">
                <a:solidFill>
                  <a:srgbClr val="FF9900"/>
                </a:solidFill>
              </a:defRPr>
            </a:pPr>
            <a:r>
              <a:rPr dirty="0">
                <a:solidFill>
                  <a:schemeClr val="bg1"/>
                </a:solidFill>
                <a:latin typeface="Rockwell" panose="02060603020205020403" pitchFamily="18" charset="0"/>
              </a:rPr>
              <a:t>IaaS – EC2, EBS, VPC</a:t>
            </a:r>
          </a:p>
          <a:p>
            <a:pPr>
              <a:defRPr sz="1800">
                <a:solidFill>
                  <a:srgbClr val="FF9900"/>
                </a:solidFill>
              </a:defRPr>
            </a:pPr>
            <a:r>
              <a:rPr dirty="0">
                <a:solidFill>
                  <a:schemeClr val="bg1"/>
                </a:solidFill>
                <a:latin typeface="Rockwell" panose="02060603020205020403" pitchFamily="18" charset="0"/>
              </a:rPr>
              <a:t>You manage OS and apps.</a:t>
            </a:r>
          </a:p>
          <a:p>
            <a:pPr>
              <a:defRPr sz="1800">
                <a:solidFill>
                  <a:srgbClr val="FF9900"/>
                </a:solidFill>
              </a:defRPr>
            </a:pPr>
            <a:endParaRPr dirty="0">
              <a:solidFill>
                <a:schemeClr val="bg1"/>
              </a:solidFill>
              <a:latin typeface="Rockwell" panose="02060603020205020403" pitchFamily="18" charset="0"/>
            </a:endParaRPr>
          </a:p>
          <a:p>
            <a:pPr>
              <a:defRPr sz="1800">
                <a:solidFill>
                  <a:srgbClr val="FF9900"/>
                </a:solidFill>
              </a:defRPr>
            </a:pPr>
            <a:r>
              <a:rPr dirty="0">
                <a:solidFill>
                  <a:schemeClr val="bg1"/>
                </a:solidFill>
                <a:latin typeface="Rockwell" panose="02060603020205020403" pitchFamily="18" charset="0"/>
              </a:rPr>
              <a:t>PaaS – Elastic Beanstalk, RDS</a:t>
            </a:r>
          </a:p>
          <a:p>
            <a:pPr>
              <a:defRPr sz="1800">
                <a:solidFill>
                  <a:srgbClr val="FF9900"/>
                </a:solidFill>
              </a:defRPr>
            </a:pPr>
            <a:r>
              <a:rPr dirty="0">
                <a:solidFill>
                  <a:schemeClr val="bg1"/>
                </a:solidFill>
                <a:latin typeface="Rockwell" panose="02060603020205020403" pitchFamily="18" charset="0"/>
              </a:rPr>
              <a:t>You manage app and data.</a:t>
            </a:r>
          </a:p>
          <a:p>
            <a:pPr>
              <a:defRPr sz="1800">
                <a:solidFill>
                  <a:srgbClr val="FF9900"/>
                </a:solidFill>
              </a:defRPr>
            </a:pPr>
            <a:endParaRPr dirty="0">
              <a:solidFill>
                <a:schemeClr val="bg1"/>
              </a:solidFill>
              <a:latin typeface="Rockwell" panose="02060603020205020403" pitchFamily="18" charset="0"/>
            </a:endParaRPr>
          </a:p>
          <a:p>
            <a:pPr>
              <a:defRPr sz="1800">
                <a:solidFill>
                  <a:srgbClr val="FF9900"/>
                </a:solidFill>
              </a:defRPr>
            </a:pPr>
            <a:r>
              <a:rPr dirty="0">
                <a:solidFill>
                  <a:schemeClr val="bg1"/>
                </a:solidFill>
                <a:latin typeface="Rockwell" panose="02060603020205020403" pitchFamily="18" charset="0"/>
              </a:rPr>
              <a:t>SaaS – Gmail, Office 365</a:t>
            </a:r>
          </a:p>
          <a:p>
            <a:pPr>
              <a:defRPr sz="1800">
                <a:solidFill>
                  <a:srgbClr val="FF9900"/>
                </a:solidFill>
              </a:defRPr>
            </a:pPr>
            <a:r>
              <a:rPr dirty="0">
                <a:solidFill>
                  <a:schemeClr val="bg1"/>
                </a:solidFill>
                <a:latin typeface="Rockwell" panose="02060603020205020403" pitchFamily="18" charset="0"/>
              </a:rPr>
              <a:t>You only use the software.</a:t>
            </a:r>
          </a:p>
          <a:p>
            <a:pPr>
              <a:defRPr sz="1800">
                <a:solidFill>
                  <a:srgbClr val="FF9900"/>
                </a:solidFill>
              </a:defRPr>
            </a:pPr>
            <a:endParaRPr dirty="0">
              <a:solidFill>
                <a:schemeClr val="bg1"/>
              </a:solidFill>
              <a:latin typeface="Rockwell" panose="02060603020205020403" pitchFamily="18" charset="0"/>
            </a:endParaRPr>
          </a:p>
          <a:p>
            <a:pPr>
              <a:defRPr sz="1800">
                <a:solidFill>
                  <a:srgbClr val="FF9900"/>
                </a:solidFill>
              </a:defRPr>
            </a:pPr>
            <a:r>
              <a:rPr dirty="0">
                <a:solidFill>
                  <a:schemeClr val="bg1"/>
                </a:solidFill>
                <a:latin typeface="Rockwell" panose="02060603020205020403" pitchFamily="18" charset="0"/>
              </a:rPr>
              <a:t>IaaS = Cook at home</a:t>
            </a:r>
          </a:p>
          <a:p>
            <a:pPr>
              <a:defRPr sz="1800">
                <a:solidFill>
                  <a:srgbClr val="FF9900"/>
                </a:solidFill>
              </a:defRPr>
            </a:pPr>
            <a:r>
              <a:rPr dirty="0">
                <a:solidFill>
                  <a:schemeClr val="bg1"/>
                </a:solidFill>
                <a:latin typeface="Rockwell" panose="02060603020205020403" pitchFamily="18" charset="0"/>
              </a:rPr>
              <a:t>PaaS = Half-prepared food</a:t>
            </a:r>
          </a:p>
          <a:p>
            <a:pPr>
              <a:defRPr sz="1800">
                <a:solidFill>
                  <a:srgbClr val="FF9900"/>
                </a:solidFill>
              </a:defRPr>
            </a:pPr>
            <a:r>
              <a:rPr dirty="0">
                <a:solidFill>
                  <a:schemeClr val="bg1"/>
                </a:solidFill>
                <a:latin typeface="Rockwell" panose="02060603020205020403" pitchFamily="18" charset="0"/>
              </a:rPr>
              <a:t>SaaS = Ready food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b="1">
                <a:solidFill>
                  <a:srgbClr val="FF9900"/>
                </a:solidFill>
              </a:defRPr>
            </a:pPr>
            <a:r>
              <a:t>Cloud Deployment Models</a:t>
            </a:r>
          </a:p>
        </p:txBody>
      </p:sp>
      <p:sp>
        <p:nvSpPr>
          <p:cNvPr id="3" name="Content Placeholder 2"/>
          <p:cNvSpPr>
            <a:spLocks noGrp="1"/>
          </p:cNvSpPr>
          <p:nvPr>
            <p:ph idx="1"/>
          </p:nvPr>
        </p:nvSpPr>
        <p:spPr/>
        <p:txBody>
          <a:bodyPr/>
          <a:lstStyle/>
          <a:p>
            <a:pPr marL="0" indent="0">
              <a:buNone/>
              <a:defRPr sz="1800">
                <a:solidFill>
                  <a:srgbClr val="FF9900"/>
                </a:solidFill>
              </a:defRPr>
            </a:pPr>
            <a:r>
              <a:rPr>
                <a:solidFill>
                  <a:schemeClr val="bg1"/>
                </a:solidFill>
              </a:rPr>
              <a:t>• </a:t>
            </a:r>
            <a:r>
              <a:rPr dirty="0">
                <a:solidFill>
                  <a:schemeClr val="bg1"/>
                </a:solidFill>
                <a:latin typeface="Rockwell" panose="02060603020205020403" pitchFamily="18" charset="0"/>
              </a:rPr>
              <a:t>Public Cloud</a:t>
            </a:r>
          </a:p>
          <a:p>
            <a:pPr marL="0" indent="0">
              <a:buNone/>
              <a:defRPr sz="1800">
                <a:solidFill>
                  <a:srgbClr val="FF9900"/>
                </a:solidFill>
              </a:defRPr>
            </a:pPr>
            <a:r>
              <a:rPr dirty="0">
                <a:solidFill>
                  <a:schemeClr val="bg1"/>
                </a:solidFill>
                <a:latin typeface="Rockwell" panose="02060603020205020403" pitchFamily="18" charset="0"/>
              </a:rPr>
              <a:t>• Private Cloud</a:t>
            </a:r>
          </a:p>
          <a:p>
            <a:pPr marL="0" indent="0">
              <a:buNone/>
              <a:defRPr sz="1800">
                <a:solidFill>
                  <a:srgbClr val="FF9900"/>
                </a:solidFill>
              </a:defRPr>
            </a:pPr>
            <a:r>
              <a:rPr dirty="0">
                <a:solidFill>
                  <a:schemeClr val="bg1"/>
                </a:solidFill>
                <a:latin typeface="Rockwell" panose="02060603020205020403" pitchFamily="18" charset="0"/>
              </a:rPr>
              <a:t>• Hybrid Cloud</a:t>
            </a:r>
          </a:p>
          <a:p>
            <a:pPr marL="0" indent="0">
              <a:buNone/>
              <a:defRPr sz="1800">
                <a:solidFill>
                  <a:srgbClr val="FF9900"/>
                </a:solidFill>
              </a:defRPr>
            </a:pPr>
            <a:r>
              <a:rPr dirty="0">
                <a:solidFill>
                  <a:schemeClr val="bg1"/>
                </a:solidFill>
                <a:latin typeface="Rockwell" panose="02060603020205020403" pitchFamily="18" charset="0"/>
              </a:rPr>
              <a:t>• Multi-Cloud</a:t>
            </a:r>
          </a:p>
          <a:p>
            <a:pPr>
              <a:defRPr sz="1800">
                <a:solidFill>
                  <a:srgbClr val="FF9900"/>
                </a:solidFill>
              </a:defRPr>
            </a:pPr>
            <a:endParaRPr dirty="0">
              <a:solidFill>
                <a:schemeClr val="bg1"/>
              </a:solidFill>
              <a:latin typeface="Rockwell" panose="02060603020205020403" pitchFamily="18" charset="0"/>
            </a:endParaRPr>
          </a:p>
          <a:p>
            <a:pPr marL="0" indent="0">
              <a:buNone/>
              <a:defRPr sz="1800">
                <a:solidFill>
                  <a:srgbClr val="FF9900"/>
                </a:solidFill>
              </a:defRPr>
            </a:pPr>
            <a:r>
              <a:rPr dirty="0">
                <a:solidFill>
                  <a:schemeClr val="bg1"/>
                </a:solidFill>
                <a:latin typeface="Rockwell" panose="02060603020205020403" pitchFamily="18" charset="0"/>
              </a:rPr>
              <a:t>Most companies use Hybrid or Multi-cloud strategy.</a:t>
            </a:r>
          </a:p>
          <a:p>
            <a:pPr marL="0" indent="0">
              <a:buNone/>
              <a:defRPr sz="1800">
                <a:solidFill>
                  <a:srgbClr val="FF9900"/>
                </a:solidFill>
              </a:defRPr>
            </a:pPr>
            <a:r>
              <a:rPr dirty="0">
                <a:solidFill>
                  <a:schemeClr val="bg1"/>
                </a:solidFill>
                <a:latin typeface="Rockwell" panose="02060603020205020403" pitchFamily="18" charset="0"/>
              </a:rPr>
              <a:t>AWS Architects design solutions using these models</a:t>
            </a:r>
            <a:r>
              <a:rPr dirty="0">
                <a:solidFill>
                  <a:schemeClr val="bg1"/>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Cloud</a:t>
            </a:r>
            <a:r>
              <a:rPr lang="en-US" sz="2400" dirty="0"/>
              <a:t> </a:t>
            </a:r>
            <a:r>
              <a:rPr lang="en-US" sz="2400" dirty="0">
                <a:solidFill>
                  <a:schemeClr val="accent6"/>
                </a:solidFill>
              </a:rPr>
              <a:t>Computing</a:t>
            </a:r>
            <a:endParaRPr lang="en-IN" sz="2400" dirty="0">
              <a:solidFill>
                <a:schemeClr val="accent6"/>
              </a:solidFill>
            </a:endParaRPr>
          </a:p>
        </p:txBody>
      </p:sp>
      <p:sp>
        <p:nvSpPr>
          <p:cNvPr id="3" name="Content Placeholder 2">
            <a:extLst>
              <a:ext uri="{FF2B5EF4-FFF2-40B4-BE49-F238E27FC236}">
                <a16:creationId xmlns:a16="http://schemas.microsoft.com/office/drawing/2014/main" id="{CB174A06-83D4-4457-B907-CA84583F637D}"/>
              </a:ext>
            </a:extLst>
          </p:cNvPr>
          <p:cNvSpPr>
            <a:spLocks noGrp="1"/>
          </p:cNvSpPr>
          <p:nvPr>
            <p:ph idx="1"/>
          </p:nvPr>
        </p:nvSpPr>
        <p:spPr>
          <a:xfrm>
            <a:off x="1255755" y="1967593"/>
            <a:ext cx="6275462" cy="2922815"/>
          </a:xfrm>
        </p:spPr>
        <p:txBody>
          <a:bodyPr anchor="ctr">
            <a:normAutofit/>
          </a:bodyPr>
          <a:lstStyle/>
          <a:p>
            <a:pPr marL="0" indent="0">
              <a:buNone/>
            </a:pPr>
            <a:r>
              <a:rPr lang="en-US" sz="1875" dirty="0"/>
              <a:t>Cloud computing is the on-demand delivery of compute power, database, storage, applications and other IT resources through a cloud services platform via the internet with pay-as-you-go pricing. </a:t>
            </a:r>
          </a:p>
          <a:p>
            <a:pPr marL="0" indent="0">
              <a:buNone/>
            </a:pPr>
            <a:endParaRPr lang="en-IN" sz="1350" dirty="0"/>
          </a:p>
        </p:txBody>
      </p:sp>
    </p:spTree>
    <p:extLst>
      <p:ext uri="{BB962C8B-B14F-4D97-AF65-F5344CB8AC3E}">
        <p14:creationId xmlns:p14="http://schemas.microsoft.com/office/powerpoint/2010/main" val="231609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Cloud</a:t>
            </a:r>
            <a:r>
              <a:rPr lang="en-US" sz="2400" dirty="0"/>
              <a:t> </a:t>
            </a:r>
            <a:r>
              <a:rPr lang="en-US" sz="2400" dirty="0">
                <a:solidFill>
                  <a:schemeClr val="accent6"/>
                </a:solidFill>
              </a:rPr>
              <a:t>Computing</a:t>
            </a:r>
            <a:endParaRPr lang="en-IN" sz="2400" dirty="0">
              <a:solidFill>
                <a:schemeClr val="accent6"/>
              </a:solidFill>
            </a:endParaRPr>
          </a:p>
        </p:txBody>
      </p:sp>
      <p:sp>
        <p:nvSpPr>
          <p:cNvPr id="3" name="Content Placeholder 2">
            <a:extLst>
              <a:ext uri="{FF2B5EF4-FFF2-40B4-BE49-F238E27FC236}">
                <a16:creationId xmlns:a16="http://schemas.microsoft.com/office/drawing/2014/main" id="{CB174A06-83D4-4457-B907-CA84583F637D}"/>
              </a:ext>
            </a:extLst>
          </p:cNvPr>
          <p:cNvSpPr>
            <a:spLocks noGrp="1"/>
          </p:cNvSpPr>
          <p:nvPr>
            <p:ph idx="1"/>
          </p:nvPr>
        </p:nvSpPr>
        <p:spPr>
          <a:xfrm>
            <a:off x="1255755" y="1967593"/>
            <a:ext cx="6275462" cy="2922815"/>
          </a:xfrm>
        </p:spPr>
        <p:txBody>
          <a:bodyPr anchor="ctr">
            <a:normAutofit/>
          </a:bodyPr>
          <a:lstStyle/>
          <a:p>
            <a:pPr marL="0" indent="0">
              <a:buNone/>
            </a:pPr>
            <a:r>
              <a:rPr lang="en-US" sz="1350" dirty="0"/>
              <a:t>Whether you are running applications that share photos to millions of mobile users or running any critical workload, a cloud services platform provides rapid access to flexible and low cost IT resources. With cloud computing, you don't need to make large upfront investments in hardware and spend a lot of time on the heavy lifting of managing that hardware. Instead, you can provision exactly the right type and size of computing resources you need to power your newest bright idea or operate your IT department. You can access as many resources as you need, almost instantly, and only pay for what  you use.</a:t>
            </a:r>
            <a:endParaRPr lang="en-IN" sz="1350" dirty="0"/>
          </a:p>
        </p:txBody>
      </p:sp>
    </p:spTree>
    <p:extLst>
      <p:ext uri="{BB962C8B-B14F-4D97-AF65-F5344CB8AC3E}">
        <p14:creationId xmlns:p14="http://schemas.microsoft.com/office/powerpoint/2010/main" val="599165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Advantages of Cloud Computing</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94703" y="2170485"/>
            <a:ext cx="6354594" cy="3137170"/>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pPr>
            <a:r>
              <a:rPr lang="en-US" sz="1500" b="1" dirty="0">
                <a:solidFill>
                  <a:prstClr val="white"/>
                </a:solidFill>
                <a:latin typeface="Rockwell" panose="02060603020205020403"/>
              </a:rPr>
              <a:t>Cost Efficient Model</a:t>
            </a:r>
            <a:r>
              <a:rPr lang="en-US" sz="1500" dirty="0">
                <a:solidFill>
                  <a:srgbClr val="9EC544"/>
                </a:solidFill>
                <a:latin typeface="Rockwell" panose="02060603020205020403"/>
              </a:rPr>
              <a:t>:  </a:t>
            </a:r>
          </a:p>
          <a:p>
            <a:pPr marL="171450" indent="-171450" defTabSz="685800">
              <a:spcBef>
                <a:spcPts val="750"/>
              </a:spcBef>
              <a:buNone/>
            </a:pPr>
            <a:r>
              <a:rPr lang="en-US" sz="1350" dirty="0">
                <a:solidFill>
                  <a:prstClr val="white"/>
                </a:solidFill>
                <a:latin typeface="Rockwell" panose="02060603020205020403"/>
              </a:rPr>
              <a:t>      </a:t>
            </a:r>
            <a:r>
              <a:rPr lang="en-US" sz="1350" dirty="0">
                <a:solidFill>
                  <a:prstClr val="white"/>
                </a:solidFill>
                <a:latin typeface="Rockwell" panose="02060603020205020403"/>
                <a:cs typeface="Times New Roman" pitchFamily="18" charset="0"/>
              </a:rPr>
              <a:t>Instead of having to invest heavily in data centers and servers before you know how you're going to use them, you can only pay when you consume computing resources, and only pay for how much you consume</a:t>
            </a:r>
            <a:r>
              <a:rPr lang="en-US" sz="1275" dirty="0">
                <a:solidFill>
                  <a:prstClr val="white"/>
                </a:solidFill>
                <a:latin typeface="Rockwell" panose="02060603020205020403"/>
                <a:cs typeface="Times New Roman" pitchFamily="18" charset="0"/>
              </a:rPr>
              <a:t>.</a:t>
            </a:r>
          </a:p>
          <a:p>
            <a:pPr marL="171450" indent="-171450" defTabSz="685800">
              <a:spcBef>
                <a:spcPts val="750"/>
              </a:spcBef>
              <a:buNone/>
            </a:pPr>
            <a:endParaRPr lang="en-US" sz="1275" dirty="0">
              <a:solidFill>
                <a:prstClr val="white"/>
              </a:solidFill>
              <a:latin typeface="Rockwell" panose="02060603020205020403"/>
              <a:cs typeface="Times New Roman" pitchFamily="18" charset="0"/>
            </a:endParaRPr>
          </a:p>
          <a:p>
            <a:pPr marL="171450" indent="-171450" defTabSz="685800">
              <a:spcBef>
                <a:spcPts val="750"/>
              </a:spcBef>
            </a:pPr>
            <a:r>
              <a:rPr lang="en-US" sz="1500" b="1" dirty="0">
                <a:solidFill>
                  <a:prstClr val="white"/>
                </a:solidFill>
                <a:latin typeface="Rockwell" panose="02060603020205020403"/>
                <a:cs typeface="Times New Roman" pitchFamily="18" charset="0"/>
              </a:rPr>
              <a:t>Stop spending money on running and maintaining data centers</a:t>
            </a:r>
            <a:r>
              <a:rPr lang="en-US" sz="1500" dirty="0">
                <a:solidFill>
                  <a:prstClr val="white"/>
                </a:solidFill>
                <a:latin typeface="Rockwell" panose="02060603020205020403"/>
                <a:cs typeface="Times New Roman" pitchFamily="18" charset="0"/>
              </a:rPr>
              <a:t>:</a:t>
            </a:r>
          </a:p>
          <a:p>
            <a:pPr marL="171450" indent="-171450" defTabSz="685800">
              <a:spcBef>
                <a:spcPts val="750"/>
              </a:spcBef>
              <a:buNone/>
            </a:pPr>
            <a:r>
              <a:rPr lang="en-US" sz="1350" dirty="0">
                <a:solidFill>
                  <a:prstClr val="white"/>
                </a:solidFill>
                <a:latin typeface="Rockwell" panose="02060603020205020403"/>
                <a:cs typeface="Times New Roman" pitchFamily="18" charset="0"/>
              </a:rPr>
              <a:t>     Focus on projects that differentiate your business, not the infrastructure. Cloud computing lets you focus on your own customers, rather than on the heavy lifting o[ racking, stacking and powering servers. </a:t>
            </a:r>
            <a:r>
              <a:rPr lang="en-US" sz="1350" dirty="0">
                <a:solidFill>
                  <a:prstClr val="white"/>
                </a:solidFill>
                <a:latin typeface="Rockwell" panose="02060603020205020403"/>
              </a:rPr>
              <a:t> </a:t>
            </a:r>
          </a:p>
          <a:p>
            <a:pPr marL="171450" indent="-171450" defTabSz="685800">
              <a:spcBef>
                <a:spcPts val="750"/>
              </a:spcBef>
              <a:buNone/>
            </a:pPr>
            <a:endParaRPr lang="en-US" sz="1350" dirty="0">
              <a:solidFill>
                <a:prstClr val="white"/>
              </a:solidFill>
              <a:latin typeface="Rockwell" panose="02060603020205020403"/>
            </a:endParaRPr>
          </a:p>
        </p:txBody>
      </p:sp>
    </p:spTree>
    <p:extLst>
      <p:ext uri="{BB962C8B-B14F-4D97-AF65-F5344CB8AC3E}">
        <p14:creationId xmlns:p14="http://schemas.microsoft.com/office/powerpoint/2010/main" val="53799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Advantages of Cloud Computing</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94703" y="2046457"/>
            <a:ext cx="6354594" cy="3137170"/>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pPr>
            <a:r>
              <a:rPr lang="en-US" sz="1500" b="1" dirty="0">
                <a:solidFill>
                  <a:prstClr val="white"/>
                </a:solidFill>
                <a:latin typeface="Rockwell" panose="02060603020205020403"/>
              </a:rPr>
              <a:t>Stop guessing capacity  (Elasticity or Scalable)</a:t>
            </a:r>
            <a:r>
              <a:rPr lang="en-US" sz="1500" dirty="0">
                <a:solidFill>
                  <a:prstClr val="white"/>
                </a:solidFill>
                <a:latin typeface="Rockwell" panose="02060603020205020403"/>
              </a:rPr>
              <a:t>: </a:t>
            </a:r>
          </a:p>
          <a:p>
            <a:pPr marL="171450" indent="-171450" defTabSz="685800">
              <a:spcBef>
                <a:spcPts val="750"/>
              </a:spcBef>
              <a:buNone/>
            </a:pPr>
            <a:r>
              <a:rPr lang="en-US" sz="1500" dirty="0">
                <a:solidFill>
                  <a:prstClr val="white"/>
                </a:solidFill>
                <a:latin typeface="Rockwell" panose="02060603020205020403"/>
              </a:rPr>
              <a:t>       </a:t>
            </a:r>
            <a:r>
              <a:rPr lang="en-US" sz="1350" dirty="0">
                <a:solidFill>
                  <a:prstClr val="white"/>
                </a:solidFill>
                <a:latin typeface="Rockwell" panose="02060603020205020403"/>
              </a:rPr>
              <a:t>Eliminate guessing on your infrastructure capacity needs. When you make a capacity decision prior to deploying an application, you often either end up sitting on expensive idle resources or dealing with limited capacity. With cloud computing, these problems go away. You can access as much or as little as you need and scale up and down as required with only a few minutes notice. </a:t>
            </a:r>
          </a:p>
          <a:p>
            <a:pPr marL="171450" indent="-171450" defTabSz="685800">
              <a:spcBef>
                <a:spcPts val="750"/>
              </a:spcBef>
            </a:pPr>
            <a:r>
              <a:rPr lang="en-US" sz="1500" b="1" dirty="0">
                <a:solidFill>
                  <a:prstClr val="white"/>
                </a:solidFill>
                <a:latin typeface="Rockwell" panose="02060603020205020403"/>
              </a:rPr>
              <a:t>Increase speed and agility</a:t>
            </a:r>
            <a:r>
              <a:rPr lang="en-US" sz="1500" dirty="0">
                <a:solidFill>
                  <a:prstClr val="white"/>
                </a:solidFill>
                <a:latin typeface="Rockwell" panose="02060603020205020403"/>
              </a:rPr>
              <a:t>:</a:t>
            </a:r>
            <a:br>
              <a:rPr lang="en-US" sz="1350" dirty="0">
                <a:solidFill>
                  <a:prstClr val="white"/>
                </a:solidFill>
                <a:latin typeface="Rockwell" panose="02060603020205020403"/>
              </a:rPr>
            </a:br>
            <a:r>
              <a:rPr lang="en-US" sz="1350" dirty="0">
                <a:solidFill>
                  <a:prstClr val="white"/>
                </a:solidFill>
                <a:latin typeface="Rockwell" panose="02060603020205020403"/>
              </a:rPr>
              <a:t>   In a cloud computing environment, new IT resources are only ever a click away, which means you reduce the time it takes to make those resources available to your developers from weeks to just minutes. This results in a dramatic increase in agility for the organization, since the cost and time it takes to experiment and develop is significantly lower.</a:t>
            </a:r>
            <a:endParaRPr lang="en-US" sz="1350" b="1" dirty="0">
              <a:solidFill>
                <a:prstClr val="white"/>
              </a:solidFill>
              <a:latin typeface="Rockwell" panose="02060603020205020403"/>
            </a:endParaRPr>
          </a:p>
          <a:p>
            <a:pPr marL="0" indent="0" defTabSz="685800">
              <a:spcBef>
                <a:spcPts val="750"/>
              </a:spcBef>
              <a:buNone/>
            </a:pPr>
            <a:endParaRPr lang="en-US" sz="1350" dirty="0">
              <a:solidFill>
                <a:prstClr val="white"/>
              </a:solidFill>
              <a:latin typeface="Rockwell" panose="02060603020205020403"/>
            </a:endParaRPr>
          </a:p>
        </p:txBody>
      </p:sp>
    </p:spTree>
    <p:extLst>
      <p:ext uri="{BB962C8B-B14F-4D97-AF65-F5344CB8AC3E}">
        <p14:creationId xmlns:p14="http://schemas.microsoft.com/office/powerpoint/2010/main" val="3665096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Advantages of Cloud Computing</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94703" y="2433131"/>
            <a:ext cx="6354594" cy="2750496"/>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pPr>
            <a:r>
              <a:rPr lang="en-US" sz="1500" b="1" dirty="0">
                <a:solidFill>
                  <a:prstClr val="white"/>
                </a:solidFill>
                <a:latin typeface="Rockwell" panose="02060603020205020403"/>
              </a:rPr>
              <a:t>Go global in minutes: </a:t>
            </a:r>
          </a:p>
          <a:p>
            <a:pPr marL="171450" indent="-171450" defTabSz="685800">
              <a:spcBef>
                <a:spcPts val="750"/>
              </a:spcBef>
              <a:buNone/>
            </a:pPr>
            <a:r>
              <a:rPr lang="en-US" sz="1500" dirty="0">
                <a:solidFill>
                  <a:prstClr val="white"/>
                </a:solidFill>
                <a:latin typeface="Rockwell" panose="02060603020205020403"/>
              </a:rPr>
              <a:t>      Easily deploy your application in multiple regions around the world with just a few clicks. This means you can provide a lower latency and better experience for your customers simply and at minimal cost. </a:t>
            </a:r>
          </a:p>
        </p:txBody>
      </p:sp>
    </p:spTree>
    <p:extLst>
      <p:ext uri="{BB962C8B-B14F-4D97-AF65-F5344CB8AC3E}">
        <p14:creationId xmlns:p14="http://schemas.microsoft.com/office/powerpoint/2010/main" val="2403817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EE6EA0B-C562-460F-AF05-4E9EAEAD6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Rockwell" panose="02060603020205020403"/>
            </a:endParaRPr>
          </a:p>
        </p:txBody>
      </p:sp>
      <p:graphicFrame>
        <p:nvGraphicFramePr>
          <p:cNvPr id="4" name="Diagram 3">
            <a:extLst>
              <a:ext uri="{FF2B5EF4-FFF2-40B4-BE49-F238E27FC236}">
                <a16:creationId xmlns:a16="http://schemas.microsoft.com/office/drawing/2014/main" id="{91D96C4F-CEE9-4DE6-BB35-588356608D08}"/>
              </a:ext>
            </a:extLst>
          </p:cNvPr>
          <p:cNvGraphicFramePr/>
          <p:nvPr>
            <p:extLst>
              <p:ext uri="{D42A27DB-BD31-4B8C-83A1-F6EECF244321}">
                <p14:modId xmlns:p14="http://schemas.microsoft.com/office/powerpoint/2010/main" val="3287935839"/>
              </p:ext>
            </p:extLst>
          </p:nvPr>
        </p:nvGraphicFramePr>
        <p:xfrm>
          <a:off x="1533832" y="1268362"/>
          <a:ext cx="6351639" cy="4732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itle 1">
            <a:extLst>
              <a:ext uri="{FF2B5EF4-FFF2-40B4-BE49-F238E27FC236}">
                <a16:creationId xmlns:a16="http://schemas.microsoft.com/office/drawing/2014/main" id="{64403746-D9C9-4FA3-933D-97AE32233148}"/>
              </a:ext>
            </a:extLst>
          </p:cNvPr>
          <p:cNvSpPr>
            <a:spLocks noGrp="1"/>
          </p:cNvSpPr>
          <p:nvPr>
            <p:ph type="title"/>
          </p:nvPr>
        </p:nvSpPr>
        <p:spPr>
          <a:xfrm>
            <a:off x="342900" y="1063229"/>
            <a:ext cx="6172200" cy="857250"/>
          </a:xfrm>
        </p:spPr>
        <p:txBody>
          <a:bodyPr/>
          <a:lstStyle/>
          <a:p>
            <a:pPr algn="l"/>
            <a:r>
              <a:rPr lang="en-US" dirty="0">
                <a:solidFill>
                  <a:schemeClr val="accent6"/>
                </a:solidFill>
              </a:rPr>
              <a:t>Service Models</a:t>
            </a:r>
          </a:p>
        </p:txBody>
      </p:sp>
    </p:spTree>
    <p:extLst>
      <p:ext uri="{BB962C8B-B14F-4D97-AF65-F5344CB8AC3E}">
        <p14:creationId xmlns:p14="http://schemas.microsoft.com/office/powerpoint/2010/main" val="60972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EE6EA0B-C562-460F-AF05-4E9EAEAD6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latin typeface="Rockwell" panose="02060603020205020403"/>
            </a:endParaRPr>
          </a:p>
        </p:txBody>
      </p:sp>
      <p:graphicFrame>
        <p:nvGraphicFramePr>
          <p:cNvPr id="4" name="Diagram 3">
            <a:extLst>
              <a:ext uri="{FF2B5EF4-FFF2-40B4-BE49-F238E27FC236}">
                <a16:creationId xmlns:a16="http://schemas.microsoft.com/office/drawing/2014/main" id="{91D96C4F-CEE9-4DE6-BB35-588356608D08}"/>
              </a:ext>
            </a:extLst>
          </p:cNvPr>
          <p:cNvGraphicFramePr/>
          <p:nvPr/>
        </p:nvGraphicFramePr>
        <p:xfrm>
          <a:off x="1524000" y="1805697"/>
          <a:ext cx="5888477" cy="3823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Graphical user interface, application&#10;&#10;Description automatically generated">
            <a:extLst>
              <a:ext uri="{FF2B5EF4-FFF2-40B4-BE49-F238E27FC236}">
                <a16:creationId xmlns:a16="http://schemas.microsoft.com/office/drawing/2014/main" id="{0F0CD2FB-7F18-462A-87A0-3E4A04D1FE3F}"/>
              </a:ext>
            </a:extLst>
          </p:cNvPr>
          <p:cNvPicPr>
            <a:picLocks noChangeAspect="1"/>
          </p:cNvPicPr>
          <p:nvPr/>
        </p:nvPicPr>
        <p:blipFill>
          <a:blip r:embed="rId8"/>
          <a:stretch>
            <a:fillRect/>
          </a:stretch>
        </p:blipFill>
        <p:spPr>
          <a:xfrm>
            <a:off x="0" y="857251"/>
            <a:ext cx="9143999" cy="5143500"/>
          </a:xfrm>
          <a:prstGeom prst="rect">
            <a:avLst/>
          </a:prstGeom>
        </p:spPr>
      </p:pic>
    </p:spTree>
    <p:extLst>
      <p:ext uri="{BB962C8B-B14F-4D97-AF65-F5344CB8AC3E}">
        <p14:creationId xmlns:p14="http://schemas.microsoft.com/office/powerpoint/2010/main" val="2258833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Public Cloud</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28197" y="2348394"/>
            <a:ext cx="7382922" cy="2966557"/>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buNone/>
            </a:pPr>
            <a:r>
              <a:rPr lang="en-US" sz="1500" dirty="0">
                <a:solidFill>
                  <a:prstClr val="white"/>
                </a:solidFill>
                <a:latin typeface="Rockwell" panose="02060603020205020403"/>
              </a:rPr>
              <a:t>The cloud infrastructure is provisioned for open use by the general public. It may be owned, managed, and operated by a business, academic, or government organization, or some combination of them. It exists on the  premises of the cloud provider. </a:t>
            </a:r>
          </a:p>
          <a:p>
            <a:pPr marL="171450" indent="-171450" defTabSz="685800">
              <a:spcBef>
                <a:spcPts val="750"/>
              </a:spcBef>
              <a:buNone/>
            </a:pPr>
            <a:r>
              <a:rPr lang="en-US" sz="1500" dirty="0">
                <a:solidFill>
                  <a:prstClr val="white"/>
                </a:solidFill>
                <a:latin typeface="Rockwell" panose="02060603020205020403"/>
              </a:rPr>
              <a:t>• Computing resources, such as virtual machines (VMs), applications or storage, available to the general public over the internet. </a:t>
            </a:r>
          </a:p>
          <a:p>
            <a:pPr marL="171450" indent="-171450" defTabSz="685800">
              <a:spcBef>
                <a:spcPts val="750"/>
              </a:spcBef>
              <a:buNone/>
            </a:pPr>
            <a:r>
              <a:rPr lang="en-US" sz="1500" dirty="0">
                <a:solidFill>
                  <a:prstClr val="white"/>
                </a:solidFill>
                <a:latin typeface="Rockwell" panose="02060603020205020403"/>
              </a:rPr>
              <a:t>• It reduces the need for organizations to invest in and maintain their own on-premises IT resources. </a:t>
            </a:r>
          </a:p>
          <a:p>
            <a:pPr marL="171450" indent="-171450" defTabSz="685800">
              <a:spcBef>
                <a:spcPts val="750"/>
              </a:spcBef>
              <a:buNone/>
            </a:pPr>
            <a:r>
              <a:rPr lang="en-US" sz="1500" dirty="0">
                <a:solidFill>
                  <a:prstClr val="white"/>
                </a:solidFill>
                <a:latin typeface="Rockwell" panose="02060603020205020403"/>
              </a:rPr>
              <a:t>• It enables scalability to meet workload and user demands</a:t>
            </a:r>
            <a:r>
              <a:rPr lang="en-US" sz="1800" dirty="0">
                <a:solidFill>
                  <a:prstClr val="white"/>
                </a:solidFill>
                <a:latin typeface="Rockwell" panose="02060603020205020403"/>
              </a:rPr>
              <a:t>.</a:t>
            </a:r>
          </a:p>
        </p:txBody>
      </p:sp>
    </p:spTree>
    <p:extLst>
      <p:ext uri="{BB962C8B-B14F-4D97-AF65-F5344CB8AC3E}">
        <p14:creationId xmlns:p14="http://schemas.microsoft.com/office/powerpoint/2010/main" val="3990139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Private Cloud</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28197" y="2348394"/>
            <a:ext cx="7382922" cy="2966557"/>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buNone/>
            </a:pPr>
            <a:r>
              <a:rPr lang="en-US" sz="1500" dirty="0">
                <a:solidFill>
                  <a:prstClr val="white"/>
                </a:solidFill>
                <a:latin typeface="Rockwell" panose="02060603020205020403"/>
              </a:rPr>
              <a:t>The cloud infrastructure is provisioned for exclusive use by a single organization comprising multiple consumers. It may be owned, managed, and operated by the organization, a third party, or some combination of them, and it may exist on or off premises. </a:t>
            </a:r>
          </a:p>
          <a:p>
            <a:pPr marL="171450" indent="-171450" defTabSz="685800">
              <a:spcBef>
                <a:spcPts val="750"/>
              </a:spcBef>
              <a:buNone/>
            </a:pPr>
            <a:r>
              <a:rPr lang="en-US" sz="1500" dirty="0">
                <a:solidFill>
                  <a:prstClr val="white"/>
                </a:solidFill>
                <a:latin typeface="Rockwell" panose="02060603020205020403"/>
              </a:rPr>
              <a:t>•  A private cloud is dedicated to a single organization. </a:t>
            </a:r>
          </a:p>
          <a:p>
            <a:pPr marL="171450" indent="-171450" defTabSz="685800">
              <a:spcBef>
                <a:spcPts val="750"/>
              </a:spcBef>
              <a:buNone/>
            </a:pPr>
            <a:r>
              <a:rPr lang="en-US" sz="1500" dirty="0">
                <a:solidFill>
                  <a:prstClr val="white"/>
                </a:solidFill>
                <a:latin typeface="Rockwell" panose="02060603020205020403"/>
              </a:rPr>
              <a:t>•  Private cloud offers hosted services to a limited number of people behind a firewall, so it minimizes the security concerns some organizations have around cloud. Private cloud also gives companies direct control over their data. </a:t>
            </a:r>
          </a:p>
        </p:txBody>
      </p:sp>
    </p:spTree>
    <p:extLst>
      <p:ext uri="{BB962C8B-B14F-4D97-AF65-F5344CB8AC3E}">
        <p14:creationId xmlns:p14="http://schemas.microsoft.com/office/powerpoint/2010/main" val="4233448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18000"/>
                <a:satMod val="160000"/>
                <a:lumMod val="28000"/>
              </a:schemeClr>
              <a:schemeClr val="bg1">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0EC7-34AC-43C2-B798-85DC3B06F214}"/>
              </a:ext>
            </a:extLst>
          </p:cNvPr>
          <p:cNvSpPr>
            <a:spLocks noGrp="1"/>
          </p:cNvSpPr>
          <p:nvPr>
            <p:ph type="title"/>
          </p:nvPr>
        </p:nvSpPr>
        <p:spPr>
          <a:xfrm>
            <a:off x="320424" y="1049723"/>
            <a:ext cx="7765322" cy="625454"/>
          </a:xfrm>
        </p:spPr>
        <p:txBody>
          <a:bodyPr anchor="b">
            <a:normAutofit/>
          </a:bodyPr>
          <a:lstStyle/>
          <a:p>
            <a:pPr algn="l"/>
            <a:r>
              <a:rPr lang="en-US" sz="2400" dirty="0">
                <a:solidFill>
                  <a:schemeClr val="accent6"/>
                </a:solidFill>
              </a:rPr>
              <a:t>Hybrid Cloud</a:t>
            </a:r>
            <a:endParaRPr lang="en-IN" sz="2400" dirty="0">
              <a:solidFill>
                <a:schemeClr val="accent6"/>
              </a:solidFill>
            </a:endParaRPr>
          </a:p>
        </p:txBody>
      </p:sp>
      <p:sp>
        <p:nvSpPr>
          <p:cNvPr id="7" name="Content Placeholder 2">
            <a:extLst>
              <a:ext uri="{FF2B5EF4-FFF2-40B4-BE49-F238E27FC236}">
                <a16:creationId xmlns:a16="http://schemas.microsoft.com/office/drawing/2014/main" id="{33350351-9B55-448C-8356-607195F64A24}"/>
              </a:ext>
            </a:extLst>
          </p:cNvPr>
          <p:cNvSpPr txBox="1">
            <a:spLocks/>
          </p:cNvSpPr>
          <p:nvPr/>
        </p:nvSpPr>
        <p:spPr>
          <a:xfrm>
            <a:off x="1328197" y="2348394"/>
            <a:ext cx="7382922" cy="2966557"/>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171450" indent="-171450" defTabSz="685800">
              <a:spcBef>
                <a:spcPts val="750"/>
              </a:spcBef>
              <a:buNone/>
            </a:pPr>
            <a:r>
              <a:rPr lang="en-US" sz="1500" dirty="0">
                <a:solidFill>
                  <a:prstClr val="white"/>
                </a:solidFill>
                <a:latin typeface="Rockwell" panose="02060603020205020403"/>
              </a:rPr>
              <a:t>The cloud infrastructure is provisioned for open use by the general public. It may be owned, managed, and operated by a business, academic, or government organization, or some combination of them. It exists on the  premises of the cloud provider. </a:t>
            </a:r>
          </a:p>
          <a:p>
            <a:pPr marL="171450" indent="-171450" defTabSz="685800">
              <a:spcBef>
                <a:spcPts val="750"/>
              </a:spcBef>
              <a:buNone/>
            </a:pPr>
            <a:r>
              <a:rPr lang="en-US" sz="1500" dirty="0">
                <a:solidFill>
                  <a:prstClr val="white"/>
                </a:solidFill>
                <a:latin typeface="Rockwell" panose="02060603020205020403"/>
              </a:rPr>
              <a:t>• Computing resources, such as virtual machines (VMs), applications or storage, available to the general public over the internet. </a:t>
            </a:r>
          </a:p>
          <a:p>
            <a:pPr marL="171450" indent="-171450" defTabSz="685800">
              <a:spcBef>
                <a:spcPts val="750"/>
              </a:spcBef>
              <a:buNone/>
            </a:pPr>
            <a:r>
              <a:rPr lang="en-US" sz="1500" dirty="0">
                <a:solidFill>
                  <a:prstClr val="white"/>
                </a:solidFill>
                <a:latin typeface="Rockwell" panose="02060603020205020403"/>
              </a:rPr>
              <a:t>• It reduces the need for organizations to invest in and maintain their own on-premises IT resources. </a:t>
            </a:r>
          </a:p>
          <a:p>
            <a:pPr marL="171450" indent="-171450" defTabSz="685800">
              <a:spcBef>
                <a:spcPts val="750"/>
              </a:spcBef>
              <a:buNone/>
            </a:pPr>
            <a:r>
              <a:rPr lang="en-US" sz="1500" dirty="0">
                <a:solidFill>
                  <a:prstClr val="white"/>
                </a:solidFill>
                <a:latin typeface="Rockwell" panose="02060603020205020403"/>
              </a:rPr>
              <a:t>• It enables scalability to meet workload and user demands</a:t>
            </a:r>
            <a:r>
              <a:rPr lang="en-US" sz="1800" dirty="0">
                <a:solidFill>
                  <a:prstClr val="white"/>
                </a:solidFill>
                <a:latin typeface="Rockwell" panose="02060603020205020403"/>
              </a:rPr>
              <a:t>.</a:t>
            </a:r>
          </a:p>
        </p:txBody>
      </p:sp>
    </p:spTree>
    <p:extLst>
      <p:ext uri="{BB962C8B-B14F-4D97-AF65-F5344CB8AC3E}">
        <p14:creationId xmlns:p14="http://schemas.microsoft.com/office/powerpoint/2010/main" val="4014424729"/>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Office 2013 - 2022 Theme</Template>
  <TotalTime>773</TotalTime>
  <Words>1018</Words>
  <Application>Microsoft Office PowerPoint</Application>
  <PresentationFormat>On-screen Show (4:3)</PresentationFormat>
  <Paragraphs>88</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Bookman Old Style</vt:lpstr>
      <vt:lpstr>Calibri</vt:lpstr>
      <vt:lpstr>Calibri Light</vt:lpstr>
      <vt:lpstr>Rockwell</vt:lpstr>
      <vt:lpstr>Office 2013 - 2022 Theme</vt:lpstr>
      <vt:lpstr>Damask</vt:lpstr>
      <vt:lpstr>Welcome to Aws Solution Architect TRAINING  </vt:lpstr>
      <vt:lpstr>What is a Data Centre?</vt:lpstr>
      <vt:lpstr>What is Cloud Computing?</vt:lpstr>
      <vt:lpstr>Advantages of Cloud Computing</vt:lpstr>
      <vt:lpstr>Cloud Service Models</vt:lpstr>
      <vt:lpstr>Cloud Deployment Models</vt:lpstr>
      <vt:lpstr>Cloud Computing</vt:lpstr>
      <vt:lpstr>Cloud Computing</vt:lpstr>
      <vt:lpstr>Advantages of Cloud Computing</vt:lpstr>
      <vt:lpstr>Advantages of Cloud Computing</vt:lpstr>
      <vt:lpstr>Advantages of Cloud Computing</vt:lpstr>
      <vt:lpstr>Service Models</vt:lpstr>
      <vt:lpstr>PowerPoint Presentation</vt:lpstr>
      <vt:lpstr>Public Cloud</vt:lpstr>
      <vt:lpstr>Private Cloud</vt:lpstr>
      <vt:lpstr>Hybrid Cloud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Administrator</dc:creator>
  <cp:keywords/>
  <dc:description>generated using python-pptx</dc:description>
  <cp:lastModifiedBy>Administrator</cp:lastModifiedBy>
  <cp:revision>44</cp:revision>
  <dcterms:created xsi:type="dcterms:W3CDTF">2013-01-27T09:14:16Z</dcterms:created>
  <dcterms:modified xsi:type="dcterms:W3CDTF">2026-01-14T19:02:21Z</dcterms:modified>
  <cp:category/>
</cp:coreProperties>
</file>